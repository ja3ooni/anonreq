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type="custom"/>
  <p:notesSz cx="6858000" cy="12192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theme" Target="theme/theme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1 (Intro): Introduce yourself briefly — Abdullah Al-Jauni, founder of InfraTechton here in Frankfurt. Set the thesis: When Legal says 'No' to Grok or ChatGPT, it's rarely because of the model itself—it's because of customer ID numbers leaving the perimeter. AnonReq is the edge proxy that turns Legal's 'No' into a 'Yes'.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2 (History): Tell the origin story from Frankfurt and Munich conversations. Companies banned ChatGPT/Claude on paper, yet employees still pasted IBANs and KVNR numbers into personal chats because manual summarization takes hours. Bans create shadow AI; governance creates an audit trail.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3 (The Problem — Policies Broken): Walk through the exact laws broken when raw files hit Cloud AI: [P1-P3] GDPR Art. 44 (third-country transfer), Art. 5/25/32 (minimisation &amp; pseudonymisation), Art. 9 (KVNR health data), and BetrVG § 87 (Works Council); [P4-P6] EU AI Act Art. 12/14/26 (deployer logging &amp; oversight) and DORA Art. 5/9/28 (ICT third-party exposure); [P7-P9] NIS2 Art. 21/24 (KRITIS SITE_ID &amp; API_KEY leaks) plus why naive [REDACTED] fails.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4 (The Solution — Linked Controls): Show how each violation [P1]-[P9] from Slide 3 is answered directly by AnonReq: [P1-P3] GDPR Art. 44/32/25/5 &amp; BetrVG solved by on-prem DE tokenization and zero-disk Valkey; [P4-P6] EU AI Act Art. 12/14/26 &amp; DORA Art. 5/9/28 solved by metadata Audit CSV, Scan Only gate, and HTTP 503 fail-closed; [P7-P9] NIS2 &amp; accuracy solved by irreversible API_KEY masking and deterministic token restoration.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5 (1-to-1 Compliance Matrix): Use this slide when speaking to a CISO, DPO, or Legal counsel. Every red 'BROKEN' line is paired directly with the green 'SOLVED' technical control in AnonReq.</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6 (File Readiness Check): Show how uploading a file immediately runs Scan Only and gives a clear compliance verdict before calling Grok.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7 (Four-Column Wire Proof): Walk across the 4 columns. Point out that Column 03 is the strongest technical evidence for a DPO that the external provider only ever processed tokens.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8 (Five EU Use Cases): Show how each scenario in the UI targets a specific German regulatory regime (BaFin VAIT/DORA for banks, GDPR Art. 9 for insurance KVNR, BetrVG § 87 for HR Works Councils, NIS2/KRITIS for energy, and EU AI Act for agent tool calls).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9 (Sponsor Architecture): Show how xAI Grok and GlassFlow fit into the compliance story: Grok processes tokenized prompts (GDPR Art. 44), while GlassFlow Rius &amp; Tares capture zero-PII traces and timelines (EU AI Act Art. 12).</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10 (CISO &amp; DPO Controls): Highlight the metadata-only CSV export (GDPR Art. 30 / EU AI Act Art. 12) and the fail-closed HTTP 503 circuit breaker (GDPR Art. 25 / DORA Art. 9).</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11 (Production Depth): Briefly show judges and technical buyers that AnonReq is a complete production codebase with SSE stream restoration, RBAC policy engine, DORA provider inventory, SIEM sinks, and Helm/Compose deployment.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12 (Live Demo Runbook): Switch to http://localhost:3000/en and execute the 90-second live demo.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lgn="l">
              <a:spcAft>
                <a:spcPts val="400"/>
              </a:spcAft>
            </a:pPr>
            <a:r>
              <a:rPr lang="en-US" sz="1200" dirty="0">
                <a:solidFill>
                  <a:srgbClr val="000000"/>
                </a:solidFill>
                <a:latin typeface="Arial"/>
                <a:cs typeface="Arial"/>
              </a:rPr>
              <a:t>Slide 13 (Closing &amp; CTA): 'Bring one synthetic workflow. Together we can inspect what is detected, what leaves, and whether the answer is useful.' Invite CISO, DPO, and builder questions.</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01 · INTRODUCTION</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01/13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AnonReq — See What Never Leaves.</a:t>
            </a:r>
          </a:p>
          <a:p>
            <a:pPr algn="l">
              <a:spcAft>
                <a:spcPts val="0"/>
              </a:spcAft>
            </a:pPr>
            <a:r>
              <a:rPr lang="en-US" sz="1300" dirty="0">
                <a:solidFill>
                  <a:srgbClr val="94A3B8"/>
                </a:solidFill>
                <a:latin typeface="Arial"/>
                <a:cs typeface="Arial"/>
              </a:rPr>
              <a:t>The Fail-Closed, Self-Hosted AI Privacy Gateway for Regulated EU Enterprises.</a:t>
            </a:r>
          </a:p>
        </p:txBody>
      </p:sp>
      <p:sp>
        <p:nvSpPr>
          <p:cNvPr id="21" name="Card_21"/>
          <p:cNvSpPr/>
          <p:nvPr/>
        </p:nvSpPr>
        <p:spPr>
          <a:xfrm>
            <a:off x="548640" y="1965960"/>
            <a:ext cx="5394960" cy="315468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WHO WE ARE</a:t>
            </a:r>
          </a:p>
          <a:p>
            <a:pPr algn="l">
              <a:spcAft>
                <a:spcPts val="600"/>
              </a:spcAft>
            </a:pPr>
            <a:r>
              <a:rPr lang="en-US" sz="1500" b="1" dirty="0">
                <a:solidFill>
                  <a:srgbClr val="F8FAFC"/>
                </a:solidFill>
                <a:latin typeface="Arial"/>
                <a:cs typeface="Arial"/>
              </a:rPr>
              <a:t>Abdullah Al-Jauni · InfraTechton (Frankfurt)</a:t>
            </a:r>
          </a:p>
          <a:p>
            <a:pPr algn="l">
              <a:spcAft>
                <a:spcPts val="450"/>
              </a:spcAft>
            </a:pPr>
            <a:r>
              <a:rPr lang="en-US" sz="1100" dirty="0">
                <a:solidFill>
                  <a:srgbClr val="94A3B8"/>
                </a:solidFill>
                <a:latin typeface="Arial"/>
                <a:cs typeface="Arial"/>
              </a:rPr>
              <a:t>• AI infrastructure strategist &amp; architect based in Frankfurt am Main.</a:t>
            </a:r>
          </a:p>
          <a:p>
            <a:pPr algn="l">
              <a:spcAft>
                <a:spcPts val="450"/>
              </a:spcAft>
            </a:pPr>
            <a:r>
              <a:rPr lang="en-US" sz="1100" dirty="0">
                <a:solidFill>
                  <a:srgbClr val="94A3B8"/>
                </a:solidFill>
                <a:latin typeface="Arial"/>
                <a:cs typeface="Arial"/>
              </a:rPr>
              <a:t>• Working at the intersection of enterprise cloud infrastructure, German regulatory compliance (GDPR / EU AI Act / BaFin DORA), and production LLM systems.</a:t>
            </a:r>
          </a:p>
          <a:p>
            <a:pPr algn="l">
              <a:spcAft>
                <a:spcPts val="450"/>
              </a:spcAft>
            </a:pPr>
            <a:r>
              <a:rPr lang="en-US" sz="1100" dirty="0">
                <a:solidFill>
                  <a:srgbClr val="94A3B8"/>
                </a:solidFill>
                <a:latin typeface="Arial"/>
                <a:cs typeface="Arial"/>
              </a:rPr>
              <a:t>• Building practical, self-hosted security primitives so European teams can adopt frontier AI without waiting months for platform overhauls.</a:t>
            </a:r>
          </a:p>
        </p:txBody>
      </p:sp>
      <p:sp>
        <p:nvSpPr>
          <p:cNvPr id="22" name="Card_22"/>
          <p:cNvSpPr/>
          <p:nvPr/>
        </p:nvSpPr>
        <p:spPr>
          <a:xfrm>
            <a:off x="6245352" y="1965960"/>
            <a:ext cx="5394960" cy="315468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THE CORE THESIS</a:t>
            </a:r>
          </a:p>
          <a:p>
            <a:pPr algn="l">
              <a:spcAft>
                <a:spcPts val="600"/>
              </a:spcAft>
            </a:pPr>
            <a:r>
              <a:rPr lang="en-US" sz="1500" b="1" dirty="0">
                <a:solidFill>
                  <a:srgbClr val="F8FAFC"/>
                </a:solidFill>
                <a:latin typeface="Arial"/>
                <a:cs typeface="Arial"/>
              </a:rPr>
              <a:t>"Legal Said No to Cloud AI. This Proxy Makes It a Yes."</a:t>
            </a:r>
          </a:p>
          <a:p>
            <a:pPr algn="l">
              <a:spcAft>
                <a:spcPts val="450"/>
              </a:spcAft>
            </a:pPr>
            <a:r>
              <a:rPr lang="en-US" sz="1100" dirty="0">
                <a:solidFill>
                  <a:srgbClr val="94A3B8"/>
                </a:solidFill>
                <a:latin typeface="Arial"/>
                <a:cs typeface="Arial"/>
              </a:rPr>
              <a:t>• Not a new LLM or a '140-model cloud platform'.</a:t>
            </a:r>
          </a:p>
          <a:p>
            <a:pPr algn="l">
              <a:spcAft>
                <a:spcPts val="450"/>
              </a:spcAft>
            </a:pPr>
            <a:r>
              <a:rPr lang="en-US" sz="1100" dirty="0">
                <a:solidFill>
                  <a:srgbClr val="94A3B8"/>
                </a:solidFill>
                <a:latin typeface="Arial"/>
                <a:cs typeface="Arial"/>
              </a:rPr>
              <a:t>• An on-prem edge gateway sitting directly in front of the API key you already bought (xAI Grok, OpenAI, Claude, Gemini).</a:t>
            </a:r>
          </a:p>
          <a:p>
            <a:pPr algn="l">
              <a:spcAft>
                <a:spcPts val="450"/>
              </a:spcAft>
            </a:pPr>
            <a:r>
              <a:rPr lang="en-US" sz="1100" dirty="0">
                <a:solidFill>
                  <a:srgbClr val="94A3B8"/>
                </a:solidFill>
                <a:latin typeface="Arial"/>
                <a:cs typeface="Arial"/>
              </a:rPr>
              <a:t>• German identifiers out -&gt; deterministic tokens in -&gt; restored answer back -&gt; metadata-only CSV for the DPO.</a:t>
            </a:r>
          </a:p>
        </p:txBody>
      </p:sp>
      <p:sp>
        <p:nvSpPr>
          <p:cNvPr id="23" name="Banner1"/>
          <p:cNvSpPr/>
          <p:nvPr/>
        </p:nvSpPr>
        <p:spPr>
          <a:xfrm>
            <a:off x="548640" y="5303520"/>
            <a:ext cx="11091672" cy="777240"/>
          </a:xfrm>
          <a:prstGeom prst="roundRect">
            <a:avLst>
              <a:gd name="adj" fmla="val 4000"/>
            </a:avLst>
          </a:prstGeom>
          <a:solidFill>
            <a:srgbClr val="1E293B"/>
          </a:solidFill>
          <a:ln w="12700">
            <a:solidFill>
              <a:srgbClr val="334155"/>
            </a:solidFill>
          </a:ln>
        </p:spPr>
        <p:txBody>
          <a:bodyPr wrap="square" lIns="146304" tIns="146304" rIns="146304" bIns="146304" anchor="ctr"/>
          <a:lstStyle/>
          <a:p>
            <a:pPr algn="ctr">
              <a:spcAft>
                <a:spcPts val="400"/>
              </a:spcAft>
            </a:pPr>
            <a:r>
              <a:rPr lang="en-US" sz="1200" b="1" dirty="0">
                <a:solidFill>
                  <a:srgbClr val="F8FAFC"/>
                </a:solidFill>
                <a:latin typeface="Arial"/>
                <a:cs typeface="Arial"/>
              </a:rPr>
              <a:t>Frankfurt AI Week Build Days · The Squaire · Friday, 30 October 2026   |   Sponsor Stack: xAI Grok (grok-4) + GlassFlow (Rius &amp; Tares)</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Frankfurt AI Week Build Days · The Squaire · Friday 30 Oct 2026</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02 · ORIGIN STORY &amp; HISTORY</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02/13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How AnonReq Was Born in Frankfurt Rooms</a:t>
            </a:r>
          </a:p>
          <a:p>
            <a:pPr algn="l">
              <a:spcAft>
                <a:spcPts val="0"/>
              </a:spcAft>
            </a:pPr>
            <a:r>
              <a:rPr lang="en-US" sz="1300" dirty="0">
                <a:solidFill>
                  <a:srgbClr val="94A3B8"/>
                </a:solidFill>
                <a:latin typeface="Arial"/>
                <a:cs typeface="Arial"/>
              </a:rPr>
              <a:t>"Frankfurt banks that ban Claude or ChatGPT still have Steuer-IDs landing in personal chats."</a:t>
            </a:r>
          </a:p>
        </p:txBody>
      </p:sp>
      <p:sp>
        <p:nvSpPr>
          <p:cNvPr id="21" name="Card_21"/>
          <p:cNvSpPr/>
          <p:nvPr/>
        </p:nvSpPr>
        <p:spPr>
          <a:xfrm>
            <a:off x="548640" y="1965960"/>
            <a:ext cx="3520440" cy="3154680"/>
          </a:xfrm>
          <a:prstGeom prst="roundRect">
            <a:avLst>
              <a:gd name="adj" fmla="val 4000"/>
            </a:avLst>
          </a:prstGeom>
          <a:solidFill>
            <a:srgbClr val="111827"/>
          </a:solidFill>
          <a:ln w="19050">
            <a:solidFill>
              <a:srgbClr val="EF4444"/>
            </a:solidFill>
          </a:ln>
        </p:spPr>
        <p:txBody>
          <a:bodyPr wrap="square" lIns="146304" tIns="146304" rIns="146304" bIns="146304" anchor="t"/>
          <a:lstStyle/>
          <a:p>
            <a:pPr algn="l">
              <a:spcAft>
                <a:spcPts val="300"/>
              </a:spcAft>
            </a:pPr>
            <a:r>
              <a:rPr lang="en-US" sz="950" b="1" dirty="0">
                <a:solidFill>
                  <a:srgbClr val="EF4444"/>
                </a:solidFill>
                <a:latin typeface="Consolas"/>
                <a:cs typeface="Consolas"/>
              </a:rPr>
              <a:t>ACT I · THE BOARDROOM BAN</a:t>
            </a:r>
          </a:p>
          <a:p>
            <a:pPr algn="l">
              <a:spcAft>
                <a:spcPts val="600"/>
              </a:spcAft>
            </a:pPr>
            <a:r>
              <a:rPr lang="en-US" sz="1500" b="1" dirty="0">
                <a:solidFill>
                  <a:srgbClr val="F8FAFC"/>
                </a:solidFill>
                <a:latin typeface="Arial"/>
                <a:cs typeface="Arial"/>
              </a:rPr>
              <a:t>Compliance Freezes the Pilot</a:t>
            </a:r>
          </a:p>
          <a:p>
            <a:pPr algn="l">
              <a:spcAft>
                <a:spcPts val="450"/>
              </a:spcAft>
            </a:pPr>
            <a:r>
              <a:rPr lang="en-US" sz="1100" dirty="0">
                <a:solidFill>
                  <a:srgbClr val="94A3B8"/>
                </a:solidFill>
                <a:latin typeface="Arial"/>
                <a:cs typeface="Arial"/>
              </a:rPr>
              <a:t>• Across Frankfurt banks, Munich insurers, and Berlin agencies, engineering teams built promising AI pilots for support &amp; claims.</a:t>
            </a:r>
          </a:p>
          <a:p>
            <a:pPr algn="l">
              <a:spcAft>
                <a:spcPts val="450"/>
              </a:spcAft>
            </a:pPr>
            <a:r>
              <a:rPr lang="en-US" sz="1100" dirty="0">
                <a:solidFill>
                  <a:srgbClr val="94A3B8"/>
                </a:solidFill>
                <a:latin typeface="Arial"/>
                <a:cs typeface="Arial"/>
              </a:rPr>
              <a:t>• Then the DPO and Legal stepped in: every ticket had a DE-IBAN, Steuer-ID, or KVNR.</a:t>
            </a:r>
          </a:p>
          <a:p>
            <a:pPr algn="l">
              <a:spcAft>
                <a:spcPts val="450"/>
              </a:spcAft>
            </a:pPr>
            <a:r>
              <a:rPr lang="en-US" sz="1100" dirty="0">
                <a:solidFill>
                  <a:srgbClr val="94A3B8"/>
                </a:solidFill>
                <a:latin typeface="Arial"/>
                <a:cs typeface="Arial"/>
              </a:rPr>
              <a:t>• Under GDPR Art. 44, EU AI Act &amp; DORA, the pilot was frozen overnight.</a:t>
            </a:r>
          </a:p>
        </p:txBody>
      </p:sp>
      <p:sp>
        <p:nvSpPr>
          <p:cNvPr id="22" name="Card_22"/>
          <p:cNvSpPr/>
          <p:nvPr/>
        </p:nvSpPr>
        <p:spPr>
          <a:xfrm>
            <a:off x="4334256" y="1965960"/>
            <a:ext cx="3520440" cy="315468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ACT II · THE SHADOW AI REALITY</a:t>
            </a:r>
          </a:p>
          <a:p>
            <a:pPr algn="l">
              <a:spcAft>
                <a:spcPts val="600"/>
              </a:spcAft>
            </a:pPr>
            <a:r>
              <a:rPr lang="en-US" sz="1500" b="1" dirty="0">
                <a:solidFill>
                  <a:srgbClr val="F8FAFC"/>
                </a:solidFill>
                <a:latin typeface="Arial"/>
                <a:cs typeface="Arial"/>
              </a:rPr>
              <a:t>Bans Didn't Stop AI—They Hid It</a:t>
            </a:r>
          </a:p>
          <a:p>
            <a:pPr algn="l">
              <a:spcAft>
                <a:spcPts val="450"/>
              </a:spcAft>
            </a:pPr>
            <a:r>
              <a:rPr lang="en-US" sz="1100" dirty="0">
                <a:solidFill>
                  <a:srgbClr val="94A3B8"/>
                </a:solidFill>
                <a:latin typeface="Arial"/>
                <a:cs typeface="Arial"/>
              </a:rPr>
              <a:t>• When summarizing a complex claim takes 2 hours manually, employees don't stop using AI.</a:t>
            </a:r>
          </a:p>
          <a:p>
            <a:pPr algn="l">
              <a:spcAft>
                <a:spcPts val="450"/>
              </a:spcAft>
            </a:pPr>
            <a:r>
              <a:rPr lang="en-US" sz="1100" dirty="0">
                <a:solidFill>
                  <a:srgbClr val="94A3B8"/>
                </a:solidFill>
                <a:latin typeface="Arial"/>
                <a:cs typeface="Arial"/>
              </a:rPr>
              <a:t>• They copy-paste the ticket into personal accounts on unmanaged phones.</a:t>
            </a:r>
          </a:p>
          <a:p>
            <a:pPr algn="l">
              <a:spcAft>
                <a:spcPts val="450"/>
              </a:spcAft>
            </a:pPr>
            <a:r>
              <a:rPr lang="en-US" sz="1100" dirty="0">
                <a:solidFill>
                  <a:srgbClr val="94A3B8"/>
                </a:solidFill>
                <a:latin typeface="Arial"/>
                <a:cs typeface="Arial"/>
              </a:rPr>
              <a:t>• Bans created Shadow AI with zero visibility, while vendors pitched 6-month platform rollouts.</a:t>
            </a:r>
          </a:p>
        </p:txBody>
      </p:sp>
      <p:sp>
        <p:nvSpPr>
          <p:cNvPr id="23" name="Card_23"/>
          <p:cNvSpPr/>
          <p:nvPr/>
        </p:nvSpPr>
        <p:spPr>
          <a:xfrm>
            <a:off x="8119872" y="1965960"/>
            <a:ext cx="3520440" cy="315468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ACT III · BUILDING ANONREQ</a:t>
            </a:r>
          </a:p>
          <a:p>
            <a:pPr algn="l">
              <a:spcAft>
                <a:spcPts val="600"/>
              </a:spcAft>
            </a:pPr>
            <a:r>
              <a:rPr lang="en-US" sz="1500" b="1" dirty="0">
                <a:solidFill>
                  <a:srgbClr val="F8FAFC"/>
                </a:solidFill>
                <a:latin typeface="Arial"/>
                <a:cs typeface="Arial"/>
              </a:rPr>
              <a:t>An Honest Day-One Gateway</a:t>
            </a:r>
          </a:p>
          <a:p>
            <a:pPr algn="l">
              <a:spcAft>
                <a:spcPts val="450"/>
              </a:spcAft>
            </a:pPr>
            <a:r>
              <a:rPr lang="en-US" sz="1100" dirty="0">
                <a:solidFill>
                  <a:srgbClr val="94A3B8"/>
                </a:solidFill>
                <a:latin typeface="Arial"/>
                <a:cs typeface="Arial"/>
              </a:rPr>
              <a:t>• We asked CISOs &amp; DPOs what they actually needed on Day 1:</a:t>
            </a:r>
          </a:p>
          <a:p>
            <a:pPr algn="l">
              <a:spcAft>
                <a:spcPts val="450"/>
              </a:spcAft>
            </a:pPr>
            <a:r>
              <a:rPr lang="en-US" sz="1100" dirty="0">
                <a:solidFill>
                  <a:srgbClr val="94A3B8"/>
                </a:solidFill>
                <a:latin typeface="Arial"/>
                <a:cs typeface="Arial"/>
              </a:rPr>
              <a:t>  1. Keep our existing LLM API key.</a:t>
            </a:r>
          </a:p>
          <a:p>
            <a:pPr algn="l">
              <a:spcAft>
                <a:spcPts val="450"/>
              </a:spcAft>
            </a:pPr>
            <a:r>
              <a:rPr lang="en-US" sz="1100" dirty="0">
                <a:solidFill>
                  <a:srgbClr val="94A3B8"/>
                </a:solidFill>
                <a:latin typeface="Arial"/>
                <a:cs typeface="Arial"/>
              </a:rPr>
              <a:t>  2. Strip German PII in memory before it leaves our VPC.</a:t>
            </a:r>
          </a:p>
          <a:p>
            <a:pPr algn="l">
              <a:spcAft>
                <a:spcPts val="450"/>
              </a:spcAft>
            </a:pPr>
            <a:r>
              <a:rPr lang="en-US" sz="1100" dirty="0">
                <a:solidFill>
                  <a:srgbClr val="94A3B8"/>
                </a:solidFill>
                <a:latin typeface="Arial"/>
                <a:cs typeface="Arial"/>
              </a:rPr>
              <a:t>  3. Restore context in the reply &amp; give the DPO a clean audit CSV.</a:t>
            </a:r>
          </a:p>
        </p:txBody>
      </p:sp>
      <p:sp>
        <p:nvSpPr>
          <p:cNvPr id="24" name="HistoryQuote"/>
          <p:cNvSpPr/>
          <p:nvPr/>
        </p:nvSpPr>
        <p:spPr>
          <a:xfrm>
            <a:off x="548640" y="5303520"/>
            <a:ext cx="11091672" cy="777240"/>
          </a:xfrm>
          <a:prstGeom prst="roundRect">
            <a:avLst>
              <a:gd name="adj" fmla="val 4000"/>
            </a:avLst>
          </a:prstGeom>
          <a:solidFill>
            <a:srgbClr val="1E293B"/>
          </a:solidFill>
          <a:ln w="12700">
            <a:solidFill>
              <a:srgbClr val="F59E0B"/>
            </a:solidFill>
          </a:ln>
        </p:spPr>
        <p:txBody>
          <a:bodyPr wrap="square" lIns="146304" tIns="146304" rIns="146304" bIns="146304" anchor="ctr"/>
          <a:lstStyle/>
          <a:p>
            <a:pPr algn="ctr">
              <a:spcAft>
                <a:spcPts val="400"/>
              </a:spcAft>
            </a:pPr>
            <a:r>
              <a:rPr lang="en-US" sz="1150" i="1" dirty="0">
                <a:solidFill>
                  <a:srgbClr val="F8FAFC"/>
                </a:solidFill>
                <a:latin typeface="Arial"/>
                <a:cs typeface="Arial"/>
              </a:rPr>
              <a:t>Principle: "Bans create Shadow AI. Governance creates an audit trail. Legal’s 'no' is rarely 'no GPT'—it is 'no ID numbers on a server we do not control.'"</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03 · THE PROBLEM · LAWS &amp; POLICIES BROKEN</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03/13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What Breaks When Teams Paste Documents Into Cloud AI</a:t>
            </a:r>
          </a:p>
          <a:p>
            <a:pPr algn="l">
              <a:spcAft>
                <a:spcPts val="0"/>
              </a:spcAft>
            </a:pPr>
            <a:r>
              <a:rPr lang="en-US" sz="1300" dirty="0">
                <a:solidFill>
                  <a:srgbClr val="94A3B8"/>
                </a:solidFill>
                <a:latin typeface="Arial"/>
                <a:cs typeface="Arial"/>
              </a:rPr>
              <a:t>Pasting raw tickets, PDFs, or CVs into external LLMs triggers 5 immediate regulatory &amp; policy violations.</a:t>
            </a:r>
          </a:p>
        </p:txBody>
      </p:sp>
      <p:sp>
        <p:nvSpPr>
          <p:cNvPr id="21" name="Card_21"/>
          <p:cNvSpPr/>
          <p:nvPr/>
        </p:nvSpPr>
        <p:spPr>
          <a:xfrm>
            <a:off x="548640" y="1938528"/>
            <a:ext cx="3520440" cy="3337560"/>
          </a:xfrm>
          <a:prstGeom prst="roundRect">
            <a:avLst>
              <a:gd name="adj" fmla="val 4000"/>
            </a:avLst>
          </a:prstGeom>
          <a:solidFill>
            <a:srgbClr val="111827"/>
          </a:solidFill>
          <a:ln w="19050">
            <a:solidFill>
              <a:srgbClr val="EF4444"/>
            </a:solidFill>
          </a:ln>
        </p:spPr>
        <p:txBody>
          <a:bodyPr wrap="square" lIns="146304" tIns="146304" rIns="146304" bIns="146304" anchor="t"/>
          <a:lstStyle/>
          <a:p>
            <a:pPr algn="l">
              <a:spcAft>
                <a:spcPts val="300"/>
              </a:spcAft>
            </a:pPr>
            <a:r>
              <a:rPr lang="en-US" sz="950" b="1" dirty="0">
                <a:solidFill>
                  <a:srgbClr val="EF4444"/>
                </a:solidFill>
                <a:latin typeface="Consolas"/>
                <a:cs typeface="Consolas"/>
              </a:rPr>
              <a:t>VIOLATION 1 · GDPR &amp; BDSG</a:t>
            </a:r>
          </a:p>
          <a:p>
            <a:pPr algn="l">
              <a:spcAft>
                <a:spcPts val="600"/>
              </a:spcAft>
            </a:pPr>
            <a:r>
              <a:rPr lang="en-US" sz="1500" b="1" dirty="0">
                <a:solidFill>
                  <a:srgbClr val="F8FAFC"/>
                </a:solidFill>
                <a:latin typeface="Arial"/>
                <a:cs typeface="Arial"/>
              </a:rPr>
              <a:t>Art. 5, 9, 25, 32, 44 &amp; BetrVG § 87</a:t>
            </a:r>
          </a:p>
          <a:p>
            <a:pPr algn="l">
              <a:spcAft>
                <a:spcPts val="450"/>
              </a:spcAft>
            </a:pPr>
            <a:r>
              <a:rPr lang="en-US" sz="1020" dirty="0">
                <a:solidFill>
                  <a:srgbClr val="94A3B8"/>
                </a:solidFill>
                <a:latin typeface="Arial"/>
                <a:cs typeface="Arial"/>
              </a:rPr>
              <a:t>• [P1] GDPR Art. 44 (Third-Country Transfer): Sending DE-IBAN, Steuer-ID, or KVNR to US/cloud APIs without supplementary technical measures.</a:t>
            </a:r>
          </a:p>
          <a:p>
            <a:pPr algn="l">
              <a:spcAft>
                <a:spcPts val="450"/>
              </a:spcAft>
            </a:pPr>
            <a:r>
              <a:rPr lang="en-US" sz="1020" dirty="0">
                <a:solidFill>
                  <a:srgbClr val="94A3B8"/>
                </a:solidFill>
                <a:latin typeface="Arial"/>
                <a:cs typeface="Arial"/>
              </a:rPr>
              <a:t>• [P2] GDPR Art. 5(1)(c) &amp; Art. 25 (Data Minimisation): Sending full cleartext identities when the LLM only needs structure.</a:t>
            </a:r>
          </a:p>
          <a:p>
            <a:pPr algn="l">
              <a:spcAft>
                <a:spcPts val="450"/>
              </a:spcAft>
            </a:pPr>
            <a:r>
              <a:rPr lang="en-US" sz="1020" dirty="0">
                <a:solidFill>
                  <a:srgbClr val="94A3B8"/>
                </a:solidFill>
                <a:latin typeface="Arial"/>
                <a:cs typeface="Arial"/>
              </a:rPr>
              <a:t>• [P3] GDPR Art. 9 (Health KVNR) &amp; BetrVG § 87 / BDSG § 26: Unprotected medical claims &amp; employee CVs.</a:t>
            </a:r>
          </a:p>
        </p:txBody>
      </p:sp>
      <p:sp>
        <p:nvSpPr>
          <p:cNvPr id="22" name="Card_22"/>
          <p:cNvSpPr/>
          <p:nvPr/>
        </p:nvSpPr>
        <p:spPr>
          <a:xfrm>
            <a:off x="4334256" y="1938528"/>
            <a:ext cx="3520440" cy="333756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VIOLATION 2 · EU AI ACT &amp; DORA</a:t>
            </a:r>
          </a:p>
          <a:p>
            <a:pPr algn="l">
              <a:spcAft>
                <a:spcPts val="600"/>
              </a:spcAft>
            </a:pPr>
            <a:r>
              <a:rPr lang="en-US" sz="1500" b="1" dirty="0">
                <a:solidFill>
                  <a:srgbClr val="F8FAFC"/>
                </a:solidFill>
                <a:latin typeface="Arial"/>
                <a:cs typeface="Arial"/>
              </a:rPr>
              <a:t>EU AI Act (2024/1689) &amp; DORA (2022/2554)</a:t>
            </a:r>
          </a:p>
          <a:p>
            <a:pPr algn="l">
              <a:spcAft>
                <a:spcPts val="450"/>
              </a:spcAft>
            </a:pPr>
            <a:r>
              <a:rPr lang="en-US" sz="1020" dirty="0">
                <a:solidFill>
                  <a:srgbClr val="94A3B8"/>
                </a:solidFill>
                <a:latin typeface="Arial"/>
                <a:cs typeface="Arial"/>
              </a:rPr>
              <a:t>• [P4] EU AI Act Art. 12 &amp; Art. 26(6) (Deployer Logging): Shadow AI leaves zero audit trail of prompts, models, or filtered data.</a:t>
            </a:r>
          </a:p>
          <a:p>
            <a:pPr algn="l">
              <a:spcAft>
                <a:spcPts val="450"/>
              </a:spcAft>
            </a:pPr>
            <a:r>
              <a:rPr lang="en-US" sz="1020" dirty="0">
                <a:solidFill>
                  <a:srgbClr val="94A3B8"/>
                </a:solidFill>
                <a:latin typeface="Arial"/>
                <a:cs typeface="Arial"/>
              </a:rPr>
              <a:t>• [P5] EU AI Act Art. 14 &amp; 26(5) (Human Oversight): No pre-flight readiness gate before sensitive files hit GPAI.</a:t>
            </a:r>
          </a:p>
          <a:p>
            <a:pPr algn="l">
              <a:spcAft>
                <a:spcPts val="450"/>
              </a:spcAft>
            </a:pPr>
            <a:r>
              <a:rPr lang="en-US" sz="1020" dirty="0">
                <a:solidFill>
                  <a:srgbClr val="94A3B8"/>
                </a:solidFill>
                <a:latin typeface="Arial"/>
                <a:cs typeface="Arial"/>
              </a:rPr>
              <a:t>• [P6] DORA Art. 5, 9 &amp; 28 + BaFin VAIT: Uncontrolled ICT third-party data exposure with no fail-secure cutoff.</a:t>
            </a:r>
          </a:p>
        </p:txBody>
      </p:sp>
      <p:sp>
        <p:nvSpPr>
          <p:cNvPr id="23" name="Card_23"/>
          <p:cNvSpPr/>
          <p:nvPr/>
        </p:nvSpPr>
        <p:spPr>
          <a:xfrm>
            <a:off x="8119872" y="1938528"/>
            <a:ext cx="3520440" cy="3337560"/>
          </a:xfrm>
          <a:prstGeom prst="roundRect">
            <a:avLst>
              <a:gd name="adj" fmla="val 4000"/>
            </a:avLst>
          </a:prstGeom>
          <a:solidFill>
            <a:srgbClr val="111827"/>
          </a:solidFill>
          <a:ln w="19050">
            <a:solidFill>
              <a:srgbClr val="38BDF8"/>
            </a:solidFill>
          </a:ln>
        </p:spPr>
        <p:txBody>
          <a:bodyPr wrap="square" lIns="146304" tIns="146304" rIns="146304" bIns="146304" anchor="t"/>
          <a:lstStyle/>
          <a:p>
            <a:pPr algn="l">
              <a:spcAft>
                <a:spcPts val="300"/>
              </a:spcAft>
            </a:pPr>
            <a:r>
              <a:rPr lang="en-US" sz="950" b="1" dirty="0">
                <a:solidFill>
                  <a:srgbClr val="38BDF8"/>
                </a:solidFill>
                <a:latin typeface="Consolas"/>
                <a:cs typeface="Consolas"/>
              </a:rPr>
              <a:t>VIOLATION 3 · NIS2 &amp; LEGACY DLP</a:t>
            </a:r>
          </a:p>
          <a:p>
            <a:pPr algn="l">
              <a:spcAft>
                <a:spcPts val="600"/>
              </a:spcAft>
            </a:pPr>
            <a:r>
              <a:rPr lang="en-US" sz="1500" b="1" dirty="0">
                <a:solidFill>
                  <a:srgbClr val="F8FAFC"/>
                </a:solidFill>
                <a:latin typeface="Arial"/>
                <a:cs typeface="Arial"/>
              </a:rPr>
              <a:t>NIS2 (Art. 21/24) &amp; Broken '[REDACTED]'</a:t>
            </a:r>
          </a:p>
          <a:p>
            <a:pPr algn="l">
              <a:spcAft>
                <a:spcPts val="450"/>
              </a:spcAft>
            </a:pPr>
            <a:r>
              <a:rPr lang="en-US" sz="1020" dirty="0">
                <a:solidFill>
                  <a:srgbClr val="94A3B8"/>
                </a:solidFill>
                <a:latin typeface="Arial"/>
                <a:cs typeface="Arial"/>
              </a:rPr>
              <a:t>• [P7] NIS2 Art. 21 &amp; 24 / KRITIS: Ops logs leak critical substation IDs (SITE_ID) and live API_KEY credentials to external servers.</a:t>
            </a:r>
          </a:p>
          <a:p>
            <a:pPr algn="l">
              <a:spcAft>
                <a:spcPts val="450"/>
              </a:spcAft>
            </a:pPr>
            <a:r>
              <a:rPr lang="en-US" sz="1020" dirty="0">
                <a:solidFill>
                  <a:srgbClr val="94A3B8"/>
                </a:solidFill>
                <a:latin typeface="Arial"/>
                <a:cs typeface="Arial"/>
              </a:rPr>
              <a:t>• [P8] Why Naive '[REDACTED]' Fails: Replaces all entities with one static string—breaking LLM reasoning across multiple accounts.</a:t>
            </a:r>
          </a:p>
          <a:p>
            <a:pPr algn="l">
              <a:spcAft>
                <a:spcPts val="450"/>
              </a:spcAft>
            </a:pPr>
            <a:r>
              <a:rPr lang="en-US" sz="1020" dirty="0">
                <a:solidFill>
                  <a:srgbClr val="94A3B8"/>
                </a:solidFill>
                <a:latin typeface="Arial"/>
                <a:cs typeface="Arial"/>
              </a:rPr>
              <a:t>• [P9] Why Local 70B LLMs Stall: High GPU cost, and PII/keys still leak into app logs &amp; OTEL traces.</a:t>
            </a:r>
          </a:p>
        </p:txBody>
      </p:sp>
      <p:sp>
        <p:nvSpPr>
          <p:cNvPr id="24" name="ProblemBottom"/>
          <p:cNvSpPr/>
          <p:nvPr/>
        </p:nvSpPr>
        <p:spPr>
          <a:xfrm>
            <a:off x="548640" y="5413248"/>
            <a:ext cx="11091672" cy="685800"/>
          </a:xfrm>
          <a:prstGeom prst="roundRect">
            <a:avLst>
              <a:gd name="adj" fmla="val 4000"/>
            </a:avLst>
          </a:prstGeom>
          <a:solidFill>
            <a:srgbClr val="1E293B"/>
          </a:solidFill>
          <a:ln w="12700">
            <a:solidFill>
              <a:srgbClr val="EF4444"/>
            </a:solidFill>
          </a:ln>
        </p:spPr>
        <p:txBody>
          <a:bodyPr wrap="square" lIns="146304" tIns="146304" rIns="146304" bIns="146304" anchor="ctr"/>
          <a:lstStyle/>
          <a:p>
            <a:pPr algn="ctr">
              <a:spcAft>
                <a:spcPts val="400"/>
              </a:spcAft>
            </a:pPr>
            <a:r>
              <a:rPr lang="en-US" sz="1100" b="1" dirty="0">
                <a:solidFill>
                  <a:srgbClr val="F8FAFC"/>
                </a:solidFill>
                <a:latin typeface="Arial"/>
                <a:cs typeface="Arial"/>
              </a:rPr>
              <a:t>Result: Legal &amp; DPOs freeze every AI pilot under GDPR Art. 44, EU AI Act Art. 26, DORA Art. 28, and BetrVG § 87 — while naive '[REDACTED]' DLP destroys LLM accuracy.</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04 · THE SOLUTION · LINKED POLICY CONTROLS</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04/13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How AnonReq Solves Each Violation at the Network Edge</a:t>
            </a:r>
          </a:p>
          <a:p>
            <a:pPr algn="l">
              <a:spcAft>
                <a:spcPts val="0"/>
              </a:spcAft>
            </a:pPr>
            <a:r>
              <a:rPr lang="en-US" sz="1300" dirty="0">
                <a:solidFill>
                  <a:srgbClr val="94A3B8"/>
                </a:solidFill>
                <a:latin typeface="Arial"/>
                <a:cs typeface="Arial"/>
              </a:rPr>
              <a:t>Every AnonReq pipeline stage is engineered as a direct technical safeguard for [P1]–[P9].</a:t>
            </a:r>
          </a:p>
        </p:txBody>
      </p:sp>
      <p:sp>
        <p:nvSpPr>
          <p:cNvPr id="21" name="Card_21"/>
          <p:cNvSpPr/>
          <p:nvPr/>
        </p:nvSpPr>
        <p:spPr>
          <a:xfrm>
            <a:off x="548640" y="1938528"/>
            <a:ext cx="3520440" cy="333756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SOLVES [P1, P2, P3] · GDPR &amp; BETRVG</a:t>
            </a:r>
          </a:p>
          <a:p>
            <a:pPr algn="l">
              <a:spcAft>
                <a:spcPts val="600"/>
              </a:spcAft>
            </a:pPr>
            <a:r>
              <a:rPr lang="en-US" sz="1500" b="1" dirty="0">
                <a:solidFill>
                  <a:srgbClr val="F8FAFC"/>
                </a:solidFill>
                <a:latin typeface="Arial"/>
                <a:cs typeface="Arial"/>
              </a:rPr>
              <a:t>Edge Pseudonymisation &amp; Zero-Disk Vault</a:t>
            </a:r>
          </a:p>
          <a:p>
            <a:pPr algn="l">
              <a:spcAft>
                <a:spcPts val="450"/>
              </a:spcAft>
            </a:pPr>
            <a:r>
              <a:rPr lang="en-US" sz="1020" dirty="0">
                <a:solidFill>
                  <a:srgbClr val="94A3B8"/>
                </a:solidFill>
                <a:latin typeface="Arial"/>
                <a:cs typeface="Arial"/>
              </a:rPr>
              <a:t>• -&gt; [P1] GDPR Art. 44 &amp; 32: Hybrid DE detector (MOD-97 + Presidio de_core_news_lg) replaces IBAN, Steuer-ID &amp; KVNR with tokens ([IBAN_DE_…6951]) inside your VPC.</a:t>
            </a:r>
          </a:p>
          <a:p>
            <a:pPr algn="l">
              <a:spcAft>
                <a:spcPts val="450"/>
              </a:spcAft>
            </a:pPr>
            <a:r>
              <a:rPr lang="en-US" sz="1020" dirty="0">
                <a:solidFill>
                  <a:srgbClr val="94A3B8"/>
                </a:solidFill>
                <a:latin typeface="Arial"/>
                <a:cs typeface="Arial"/>
              </a:rPr>
              <a:t>• -&gt; [P2] GDPR Art. 5(1)(c)/(e) &amp; 25: Ephemeral Valkey vault (save '', appendonly no) auto-evicts mappings after TTL.</a:t>
            </a:r>
          </a:p>
          <a:p>
            <a:pPr algn="l">
              <a:spcAft>
                <a:spcPts val="450"/>
              </a:spcAft>
            </a:pPr>
            <a:r>
              <a:rPr lang="en-US" sz="1020" dirty="0">
                <a:solidFill>
                  <a:srgbClr val="94A3B8"/>
                </a:solidFill>
                <a:latin typeface="Arial"/>
                <a:cs typeface="Arial"/>
              </a:rPr>
              <a:t>• -&gt; [P3] BetrVG § 87 &amp; Art. 9: Strips candidate/patient PII before LLM call; zero raw PII in stdout logs.</a:t>
            </a:r>
          </a:p>
        </p:txBody>
      </p:sp>
      <p:sp>
        <p:nvSpPr>
          <p:cNvPr id="22" name="Card_22"/>
          <p:cNvSpPr/>
          <p:nvPr/>
        </p:nvSpPr>
        <p:spPr>
          <a:xfrm>
            <a:off x="4334256" y="1938528"/>
            <a:ext cx="3520440" cy="333756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SOLVES [P4, P5, P6] · EU AI ACT &amp; DORA</a:t>
            </a:r>
          </a:p>
          <a:p>
            <a:pPr algn="l">
              <a:spcAft>
                <a:spcPts val="600"/>
              </a:spcAft>
            </a:pPr>
            <a:r>
              <a:rPr lang="en-US" sz="1500" b="1" dirty="0">
                <a:solidFill>
                  <a:srgbClr val="F8FAFC"/>
                </a:solidFill>
                <a:latin typeface="Arial"/>
                <a:cs typeface="Arial"/>
              </a:rPr>
              <a:t>Pre-Flight Gate, Audit CSV &amp; Fail-Closed</a:t>
            </a:r>
          </a:p>
          <a:p>
            <a:pPr algn="l">
              <a:spcAft>
                <a:spcPts val="450"/>
              </a:spcAft>
            </a:pPr>
            <a:r>
              <a:rPr lang="en-US" sz="1020" dirty="0">
                <a:solidFill>
                  <a:srgbClr val="94A3B8"/>
                </a:solidFill>
                <a:latin typeface="Arial"/>
                <a:cs typeface="Arial"/>
              </a:rPr>
              <a:t>• -&gt; [P4] EU AI Act Art. 12 &amp; 26(6) + GDPR Art. 30: Immutable metadata-only Audit CSV (who, when, model, entity_types) + zero-PII GlassFlow OTEL traces.</a:t>
            </a:r>
          </a:p>
          <a:p>
            <a:pPr algn="l">
              <a:spcAft>
                <a:spcPts val="450"/>
              </a:spcAft>
            </a:pPr>
            <a:r>
              <a:rPr lang="en-US" sz="1020" dirty="0">
                <a:solidFill>
                  <a:srgbClr val="94A3B8"/>
                </a:solidFill>
                <a:latin typeface="Arial"/>
                <a:cs typeface="Arial"/>
              </a:rPr>
              <a:t>• -&gt; [P5] EU AI Act Art. 14 &amp; 26(5): 'Is This File OK?' Scan Only Verdict Card + 4-Column Wire Proof for human review.</a:t>
            </a:r>
          </a:p>
          <a:p>
            <a:pPr algn="l">
              <a:spcAft>
                <a:spcPts val="450"/>
              </a:spcAft>
            </a:pPr>
            <a:r>
              <a:rPr lang="en-US" sz="1020" dirty="0">
                <a:solidFill>
                  <a:srgbClr val="94A3B8"/>
                </a:solidFill>
                <a:latin typeface="Arial"/>
                <a:cs typeface="Arial"/>
              </a:rPr>
              <a:t>• -&gt; [P6] DORA Art. 5, 9 &amp; 28: Fail-closed HTTP 503 if Presidio/Valkey is down; provider only processes tokens.</a:t>
            </a:r>
          </a:p>
        </p:txBody>
      </p:sp>
      <p:sp>
        <p:nvSpPr>
          <p:cNvPr id="23" name="Card_23"/>
          <p:cNvSpPr/>
          <p:nvPr/>
        </p:nvSpPr>
        <p:spPr>
          <a:xfrm>
            <a:off x="8119872" y="1938528"/>
            <a:ext cx="3520440" cy="3337560"/>
          </a:xfrm>
          <a:prstGeom prst="roundRect">
            <a:avLst>
              <a:gd name="adj" fmla="val 4000"/>
            </a:avLst>
          </a:prstGeom>
          <a:solidFill>
            <a:srgbClr val="111827"/>
          </a:solidFill>
          <a:ln w="19050">
            <a:solidFill>
              <a:srgbClr val="38BDF8"/>
            </a:solidFill>
          </a:ln>
        </p:spPr>
        <p:txBody>
          <a:bodyPr wrap="square" lIns="146304" tIns="146304" rIns="146304" bIns="146304" anchor="t"/>
          <a:lstStyle/>
          <a:p>
            <a:pPr algn="l">
              <a:spcAft>
                <a:spcPts val="300"/>
              </a:spcAft>
            </a:pPr>
            <a:r>
              <a:rPr lang="en-US" sz="950" b="1" dirty="0">
                <a:solidFill>
                  <a:srgbClr val="38BDF8"/>
                </a:solidFill>
                <a:latin typeface="Consolas"/>
                <a:cs typeface="Consolas"/>
              </a:rPr>
              <a:t>SOLVES [P7, P8, P9] · NIS2 &amp; ACCURACY</a:t>
            </a:r>
          </a:p>
          <a:p>
            <a:pPr algn="l">
              <a:spcAft>
                <a:spcPts val="600"/>
              </a:spcAft>
            </a:pPr>
            <a:r>
              <a:rPr lang="en-US" sz="1500" b="1" dirty="0">
                <a:solidFill>
                  <a:srgbClr val="F8FAFC"/>
                </a:solidFill>
                <a:latin typeface="Arial"/>
                <a:cs typeface="Arial"/>
              </a:rPr>
              <a:t>Differential Restoration on CPU</a:t>
            </a:r>
          </a:p>
          <a:p>
            <a:pPr algn="l">
              <a:spcAft>
                <a:spcPts val="450"/>
              </a:spcAft>
            </a:pPr>
            <a:r>
              <a:rPr lang="en-US" sz="1020" dirty="0">
                <a:solidFill>
                  <a:srgbClr val="94A3B8"/>
                </a:solidFill>
                <a:latin typeface="Arial"/>
                <a:cs typeface="Arial"/>
              </a:rPr>
              <a:t>• -&gt; [P7] NIS2 Art. 21 &amp; 24 / KRITIS: Masks substation SITE_IDs and enforces Permanent Mask (reversible: false) on API_KEYs.</a:t>
            </a:r>
          </a:p>
          <a:p>
            <a:pPr algn="l">
              <a:spcAft>
                <a:spcPts val="450"/>
              </a:spcAft>
            </a:pPr>
            <a:r>
              <a:rPr lang="en-US" sz="1020" dirty="0">
                <a:solidFill>
                  <a:srgbClr val="94A3B8"/>
                </a:solidFill>
                <a:latin typeface="Arial"/>
                <a:cs typeface="Arial"/>
              </a:rPr>
              <a:t>• -&gt; [P8] Fixes '[REDACTED]': Deterministic tokens preserve multi-entity relationships; RestorationStage swaps PII back in ms.</a:t>
            </a:r>
          </a:p>
          <a:p>
            <a:pPr algn="l">
              <a:spcAft>
                <a:spcPts val="450"/>
              </a:spcAft>
            </a:pPr>
            <a:r>
              <a:rPr lang="en-US" sz="1020" dirty="0">
                <a:solidFill>
                  <a:srgbClr val="94A3B8"/>
                </a:solidFill>
                <a:latin typeface="Arial"/>
                <a:cs typeface="Arial"/>
              </a:rPr>
              <a:t>• -&gt; [P9] No GPU Lock-In: Runs on CPU in Docker/Helm while unlocking frontier grok-4 reasoning safely.</a:t>
            </a:r>
          </a:p>
        </p:txBody>
      </p:sp>
      <p:sp>
        <p:nvSpPr>
          <p:cNvPr id="24" name="SolutionBottom"/>
          <p:cNvSpPr/>
          <p:nvPr/>
        </p:nvSpPr>
        <p:spPr>
          <a:xfrm>
            <a:off x="548640" y="5413248"/>
            <a:ext cx="11091672" cy="685800"/>
          </a:xfrm>
          <a:prstGeom prst="roundRect">
            <a:avLst>
              <a:gd name="adj" fmla="val 4000"/>
            </a:avLst>
          </a:prstGeom>
          <a:solidFill>
            <a:srgbClr val="1E293B"/>
          </a:solidFill>
          <a:ln w="12700">
            <a:solidFill>
              <a:srgbClr val="10B981"/>
            </a:solidFill>
          </a:ln>
        </p:spPr>
        <p:txBody>
          <a:bodyPr wrap="square" lIns="146304" tIns="146304" rIns="146304" bIns="146304" anchor="ctr"/>
          <a:lstStyle/>
          <a:p>
            <a:pPr algn="ctr">
              <a:spcAft>
                <a:spcPts val="400"/>
              </a:spcAft>
            </a:pPr>
            <a:r>
              <a:rPr lang="en-US" sz="1080" b="1" dirty="0">
                <a:solidFill>
                  <a:srgbClr val="F8FAFC"/>
                </a:solidFill>
                <a:latin typeface="Arial"/>
                <a:cs typeface="Arial"/>
              </a:rPr>
              <a:t>Honest Compliance Framing: We never claim "GDPR-certified ChatGPT/Grok." We prove: "Listed German identifiers are replaced in your VPC before the provider call, with a fail-closed gate and a DPO audit CSV."</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05 · PROBLEM &lt;-&gt; SOLUTION COMPLIANCE MATRIX</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05/13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Direct 1-to-1 Mapping for CISO, DPO &amp; Legal Sign-Off</a:t>
            </a:r>
          </a:p>
          <a:p>
            <a:pPr algn="l">
              <a:spcAft>
                <a:spcPts val="0"/>
              </a:spcAft>
            </a:pPr>
            <a:r>
              <a:rPr lang="en-US" sz="1300" dirty="0">
                <a:solidFill>
                  <a:srgbClr val="94A3B8"/>
                </a:solidFill>
                <a:latin typeface="Arial"/>
                <a:cs typeface="Arial"/>
              </a:rPr>
              <a:t>Every regulatory blocker in Frankfurt &amp; Munich mapped directly to a verifiable AnonReq mechanism.</a:t>
            </a:r>
          </a:p>
        </p:txBody>
      </p:sp>
      <p:sp>
        <p:nvSpPr>
          <p:cNvPr id="30" name="MapRow_1"/>
          <p:cNvSpPr/>
          <p:nvPr/>
        </p:nvSpPr>
        <p:spPr>
          <a:xfrm>
            <a:off x="548640" y="1920240"/>
            <a:ext cx="11091672" cy="768096"/>
          </a:xfrm>
          <a:prstGeom prst="roundRect">
            <a:avLst>
              <a:gd name="adj" fmla="val 4000"/>
            </a:avLst>
          </a:prstGeom>
          <a:solidFill>
            <a:srgbClr val="111827"/>
          </a:solidFill>
          <a:ln w="19050">
            <a:solidFill>
              <a:srgbClr val="10B981"/>
            </a:solidFill>
          </a:ln>
        </p:spPr>
        <p:txBody>
          <a:bodyPr wrap="square" lIns="91440" tIns="91440" rIns="91440" bIns="91440" anchor="ctr"/>
          <a:lstStyle/>
          <a:p>
            <a:pPr algn="l">
              <a:spcAft>
                <a:spcPts val="200"/>
              </a:spcAft>
            </a:pPr>
            <a:r>
              <a:rPr lang="en-US" sz="1100" b="1" dirty="0">
                <a:solidFill>
                  <a:srgbClr val="10B981"/>
                </a:solidFill>
                <a:latin typeface="Consolas"/>
                <a:cs typeface="Consolas"/>
              </a:rPr>
              <a:t>[P1/P2] GDPR Art. 44, 32, 25 &amp; 5(1)(c)/(e)</a:t>
            </a:r>
          </a:p>
          <a:p>
            <a:pPr algn="l">
              <a:spcAft>
                <a:spcPts val="200"/>
              </a:spcAft>
            </a:pPr>
            <a:r>
              <a:rPr lang="en-US" sz="980" dirty="0">
                <a:solidFill>
                  <a:srgbClr val="EF4444"/>
                </a:solidFill>
                <a:latin typeface="Arial"/>
                <a:cs typeface="Arial"/>
              </a:rPr>
              <a:t>✗ BROKEN: Cleartext DE-IBAN, Steuer-ID &amp; names sent to US/external LLM servers; stored on disk.</a:t>
            </a:r>
          </a:p>
          <a:p>
            <a:pPr algn="l">
              <a:spcAft>
                <a:spcPts val="0"/>
              </a:spcAft>
            </a:pPr>
            <a:r>
              <a:rPr lang="en-US" sz="1000" b="1" dirty="0">
                <a:solidFill>
                  <a:srgbClr val="F8FAFC"/>
                </a:solidFill>
                <a:latin typeface="Arial"/>
                <a:cs typeface="Arial"/>
              </a:rPr>
              <a:t>✓ SOLVED: Preset 'germany' (de-DE) tokenizes PII at VPC edge; AES-256-GCM Valkey with save '' &amp; TTL eviction.</a:t>
            </a:r>
          </a:p>
        </p:txBody>
      </p:sp>
      <p:sp>
        <p:nvSpPr>
          <p:cNvPr id="31" name="MapRow_2"/>
          <p:cNvSpPr/>
          <p:nvPr/>
        </p:nvSpPr>
        <p:spPr>
          <a:xfrm>
            <a:off x="548640" y="2761488"/>
            <a:ext cx="11091672" cy="768096"/>
          </a:xfrm>
          <a:prstGeom prst="roundRect">
            <a:avLst>
              <a:gd name="adj" fmla="val 4000"/>
            </a:avLst>
          </a:prstGeom>
          <a:solidFill>
            <a:srgbClr val="111827"/>
          </a:solidFill>
          <a:ln w="19050">
            <a:solidFill>
              <a:srgbClr val="38BDF8"/>
            </a:solidFill>
          </a:ln>
        </p:spPr>
        <p:txBody>
          <a:bodyPr wrap="square" lIns="91440" tIns="91440" rIns="91440" bIns="91440" anchor="ctr"/>
          <a:lstStyle/>
          <a:p>
            <a:pPr algn="l">
              <a:spcAft>
                <a:spcPts val="200"/>
              </a:spcAft>
            </a:pPr>
            <a:r>
              <a:rPr lang="en-US" sz="1100" b="1" dirty="0">
                <a:solidFill>
                  <a:srgbClr val="38BDF8"/>
                </a:solidFill>
                <a:latin typeface="Consolas"/>
                <a:cs typeface="Consolas"/>
              </a:rPr>
              <a:t>[P3] GDPR Art. 9, BDSG § 26 &amp; BetrVG § 87</a:t>
            </a:r>
          </a:p>
          <a:p>
            <a:pPr algn="l">
              <a:spcAft>
                <a:spcPts val="200"/>
              </a:spcAft>
            </a:pPr>
            <a:r>
              <a:rPr lang="en-US" sz="980" dirty="0">
                <a:solidFill>
                  <a:srgbClr val="EF4444"/>
                </a:solidFill>
                <a:latin typeface="Arial"/>
                <a:cs typeface="Arial"/>
              </a:rPr>
              <a:t>✗ BROKEN: Medical KVNR in claims &amp; employee CVs screened in cloud AI without Works Council safeguard.</a:t>
            </a:r>
          </a:p>
          <a:p>
            <a:pPr algn="l">
              <a:spcAft>
                <a:spcPts val="0"/>
              </a:spcAft>
            </a:pPr>
            <a:r>
              <a:rPr lang="en-US" sz="1000" b="1" dirty="0">
                <a:solidFill>
                  <a:srgbClr val="F8FAFC"/>
                </a:solidFill>
                <a:latin typeface="Arial"/>
                <a:cs typeface="Arial"/>
              </a:rPr>
              <a:t>✓ SOLVED: KVNR, Personalausweis &amp; candidate PII stripped pre-LLM; stdout JSON logs redact all prompt values.</a:t>
            </a:r>
          </a:p>
        </p:txBody>
      </p:sp>
      <p:sp>
        <p:nvSpPr>
          <p:cNvPr id="32" name="MapRow_3"/>
          <p:cNvSpPr/>
          <p:nvPr/>
        </p:nvSpPr>
        <p:spPr>
          <a:xfrm>
            <a:off x="548640" y="3602736"/>
            <a:ext cx="11091672" cy="768096"/>
          </a:xfrm>
          <a:prstGeom prst="roundRect">
            <a:avLst>
              <a:gd name="adj" fmla="val 4000"/>
            </a:avLst>
          </a:prstGeom>
          <a:solidFill>
            <a:srgbClr val="111827"/>
          </a:solidFill>
          <a:ln w="19050">
            <a:solidFill>
              <a:srgbClr val="F59E0B"/>
            </a:solidFill>
          </a:ln>
        </p:spPr>
        <p:txBody>
          <a:bodyPr wrap="square" lIns="91440" tIns="91440" rIns="91440" bIns="91440" anchor="ctr"/>
          <a:lstStyle/>
          <a:p>
            <a:pPr algn="l">
              <a:spcAft>
                <a:spcPts val="200"/>
              </a:spcAft>
            </a:pPr>
            <a:r>
              <a:rPr lang="en-US" sz="1100" b="1" dirty="0">
                <a:solidFill>
                  <a:srgbClr val="F59E0B"/>
                </a:solidFill>
                <a:latin typeface="Consolas"/>
                <a:cs typeface="Consolas"/>
              </a:rPr>
              <a:t>[P4/P5] EU AI Act Art. 12, 14 &amp; 26(5)/(6)</a:t>
            </a:r>
          </a:p>
          <a:p>
            <a:pPr algn="l">
              <a:spcAft>
                <a:spcPts val="200"/>
              </a:spcAft>
            </a:pPr>
            <a:r>
              <a:rPr lang="en-US" sz="980" dirty="0">
                <a:solidFill>
                  <a:srgbClr val="EF4444"/>
                </a:solidFill>
                <a:latin typeface="Arial"/>
                <a:cs typeface="Arial"/>
              </a:rPr>
              <a:t>✗ BROKEN: Shadow AI has no deployer log, no input readiness check, and no human-in-the-loop verification.</a:t>
            </a:r>
          </a:p>
          <a:p>
            <a:pPr algn="l">
              <a:spcAft>
                <a:spcPts val="0"/>
              </a:spcAft>
            </a:pPr>
            <a:r>
              <a:rPr lang="en-US" sz="1000" b="1" dirty="0">
                <a:solidFill>
                  <a:srgbClr val="F8FAFC"/>
                </a:solidFill>
                <a:latin typeface="Arial"/>
                <a:cs typeface="Arial"/>
              </a:rPr>
              <a:t>✓ SOLVED: 'Scan Only' Verdict Card + 4-Column Wire Proof + 1-click DPO CSV (who, when, model, entity_types).</a:t>
            </a:r>
          </a:p>
        </p:txBody>
      </p:sp>
      <p:sp>
        <p:nvSpPr>
          <p:cNvPr id="33" name="MapRow_4"/>
          <p:cNvSpPr/>
          <p:nvPr/>
        </p:nvSpPr>
        <p:spPr>
          <a:xfrm>
            <a:off x="548640" y="4443984"/>
            <a:ext cx="11091672" cy="768096"/>
          </a:xfrm>
          <a:prstGeom prst="roundRect">
            <a:avLst>
              <a:gd name="adj" fmla="val 4000"/>
            </a:avLst>
          </a:prstGeom>
          <a:solidFill>
            <a:srgbClr val="111827"/>
          </a:solidFill>
          <a:ln w="19050">
            <a:solidFill>
              <a:srgbClr val="10B981"/>
            </a:solidFill>
          </a:ln>
        </p:spPr>
        <p:txBody>
          <a:bodyPr wrap="square" lIns="91440" tIns="91440" rIns="91440" bIns="91440" anchor="ctr"/>
          <a:lstStyle/>
          <a:p>
            <a:pPr algn="l">
              <a:spcAft>
                <a:spcPts val="200"/>
              </a:spcAft>
            </a:pPr>
            <a:r>
              <a:rPr lang="en-US" sz="1100" b="1" dirty="0">
                <a:solidFill>
                  <a:srgbClr val="10B981"/>
                </a:solidFill>
                <a:latin typeface="Consolas"/>
                <a:cs typeface="Consolas"/>
              </a:rPr>
              <a:t>[P6] DORA Art. 5, 9, 28, 30 &amp; BaFin VAIT</a:t>
            </a:r>
          </a:p>
          <a:p>
            <a:pPr algn="l">
              <a:spcAft>
                <a:spcPts val="200"/>
              </a:spcAft>
            </a:pPr>
            <a:r>
              <a:rPr lang="en-US" sz="980" dirty="0">
                <a:solidFill>
                  <a:srgbClr val="EF4444"/>
                </a:solidFill>
                <a:latin typeface="Arial"/>
                <a:cs typeface="Arial"/>
              </a:rPr>
              <a:t>✗ BROKEN: ICT third-party concentration risk &amp; uncontrolled cleartext fallback if a security tool crashes.</a:t>
            </a:r>
          </a:p>
          <a:p>
            <a:pPr algn="l">
              <a:spcAft>
                <a:spcPts val="0"/>
              </a:spcAft>
            </a:pPr>
            <a:r>
              <a:rPr lang="en-US" sz="1000" b="1" dirty="0">
                <a:solidFill>
                  <a:srgbClr val="F8FAFC"/>
                </a:solidFill>
                <a:latin typeface="Arial"/>
                <a:cs typeface="Arial"/>
              </a:rPr>
              <a:t>✓ SOLVED: Self-hosted gateway (Helm/Compose); provider only sees tokens; fail-closed HTTP 503 on detector failure.</a:t>
            </a:r>
          </a:p>
        </p:txBody>
      </p:sp>
      <p:sp>
        <p:nvSpPr>
          <p:cNvPr id="34" name="MapRow_5"/>
          <p:cNvSpPr/>
          <p:nvPr/>
        </p:nvSpPr>
        <p:spPr>
          <a:xfrm>
            <a:off x="548640" y="5285232"/>
            <a:ext cx="11091672" cy="768096"/>
          </a:xfrm>
          <a:prstGeom prst="roundRect">
            <a:avLst>
              <a:gd name="adj" fmla="val 4000"/>
            </a:avLst>
          </a:prstGeom>
          <a:solidFill>
            <a:srgbClr val="111827"/>
          </a:solidFill>
          <a:ln w="19050">
            <a:solidFill>
              <a:srgbClr val="F59E0B"/>
            </a:solidFill>
          </a:ln>
        </p:spPr>
        <p:txBody>
          <a:bodyPr wrap="square" lIns="91440" tIns="91440" rIns="91440" bIns="91440" anchor="ctr"/>
          <a:lstStyle/>
          <a:p>
            <a:pPr algn="l">
              <a:spcAft>
                <a:spcPts val="200"/>
              </a:spcAft>
            </a:pPr>
            <a:r>
              <a:rPr lang="en-US" sz="1100" b="1" dirty="0">
                <a:solidFill>
                  <a:srgbClr val="F59E0B"/>
                </a:solidFill>
                <a:latin typeface="Consolas"/>
                <a:cs typeface="Consolas"/>
              </a:rPr>
              <a:t>[P7/P8] NIS2 Art. 21/24 (KRITIS) &amp; DLP</a:t>
            </a:r>
          </a:p>
          <a:p>
            <a:pPr algn="l">
              <a:spcAft>
                <a:spcPts val="200"/>
              </a:spcAft>
            </a:pPr>
            <a:r>
              <a:rPr lang="en-US" sz="980" dirty="0">
                <a:solidFill>
                  <a:srgbClr val="EF4444"/>
                </a:solidFill>
                <a:latin typeface="Arial"/>
                <a:cs typeface="Arial"/>
              </a:rPr>
              <a:t>✗ BROKEN: Substation SITE_IDs &amp; live API_KEYs leaked in logs; static '[REDACTED]' breaks LLM replies.</a:t>
            </a:r>
          </a:p>
          <a:p>
            <a:pPr algn="l">
              <a:spcAft>
                <a:spcPts val="0"/>
              </a:spcAft>
            </a:pPr>
            <a:r>
              <a:rPr lang="en-US" sz="1000" b="1" dirty="0">
                <a:solidFill>
                  <a:srgbClr val="F8FAFC"/>
                </a:solidFill>
                <a:latin typeface="Arial"/>
                <a:cs typeface="Arial"/>
              </a:rPr>
              <a:t>✓ SOLVED: Reversible tokens for customer PII (restored in Col 04) + Permanent Mask (reversible: false) for API_KEY.</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06 · PRODUCT · FILE READINESS CHECK</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06/13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Upload Any Document -&gt; Instant "Is It OK?" Verdict</a:t>
            </a:r>
          </a:p>
          <a:p>
            <a:pPr algn="l">
              <a:spcAft>
                <a:spcPts val="0"/>
              </a:spcAft>
            </a:pPr>
            <a:r>
              <a:rPr lang="en-US" sz="1300" dirty="0">
                <a:solidFill>
                  <a:srgbClr val="94A3B8"/>
                </a:solidFill>
                <a:latin typeface="Arial"/>
                <a:cs typeface="Arial"/>
              </a:rPr>
              <a:t>Enforces GDPR Art. 25 &amp; EU AI Act Art. 26(5) before spending a single upstream LLM token.</a:t>
            </a:r>
          </a:p>
        </p:txBody>
      </p:sp>
      <p:sp>
        <p:nvSpPr>
          <p:cNvPr id="21" name="Card_21"/>
          <p:cNvSpPr/>
          <p:nvPr/>
        </p:nvSpPr>
        <p:spPr>
          <a:xfrm>
            <a:off x="548640" y="1965960"/>
            <a:ext cx="3520440" cy="4069080"/>
          </a:xfrm>
          <a:prstGeom prst="roundRect">
            <a:avLst>
              <a:gd name="adj" fmla="val 4000"/>
            </a:avLst>
          </a:prstGeom>
          <a:solidFill>
            <a:srgbClr val="111827"/>
          </a:solidFill>
          <a:ln w="19050">
            <a:solidFill>
              <a:srgbClr val="38BDF8"/>
            </a:solidFill>
          </a:ln>
        </p:spPr>
        <p:txBody>
          <a:bodyPr wrap="square" lIns="146304" tIns="146304" rIns="146304" bIns="146304" anchor="t"/>
          <a:lstStyle/>
          <a:p>
            <a:pPr algn="l">
              <a:spcAft>
                <a:spcPts val="300"/>
              </a:spcAft>
            </a:pPr>
            <a:r>
              <a:rPr lang="en-US" sz="950" b="1" dirty="0">
                <a:solidFill>
                  <a:srgbClr val="38BDF8"/>
                </a:solidFill>
                <a:latin typeface="Consolas"/>
                <a:cs typeface="Consolas"/>
              </a:rPr>
              <a:t>STEP 1 · UPLOAD OR SAMPLE</a:t>
            </a:r>
          </a:p>
          <a:p>
            <a:pPr algn="l">
              <a:spcAft>
                <a:spcPts val="600"/>
              </a:spcAft>
            </a:pPr>
            <a:r>
              <a:rPr lang="en-US" sz="1500" b="1" dirty="0">
                <a:solidFill>
                  <a:srgbClr val="F8FAFC"/>
                </a:solidFill>
                <a:latin typeface="Arial"/>
                <a:cs typeface="Arial"/>
              </a:rPr>
              <a:t>Multi-Format Stream Extraction</a:t>
            </a:r>
          </a:p>
          <a:p>
            <a:pPr algn="l">
              <a:spcAft>
                <a:spcPts val="450"/>
              </a:spcAft>
            </a:pPr>
            <a:r>
              <a:rPr lang="en-US" sz="1100" dirty="0">
                <a:solidFill>
                  <a:srgbClr val="94A3B8"/>
                </a:solidFill>
                <a:latin typeface="Arial"/>
                <a:cs typeface="Arial"/>
              </a:rPr>
              <a:t>• Drag &amp; drop .pdf, .docx, .txt, .md, .csv, .json, .log, or .eml (up to 5 MB / 7,200 chars).</a:t>
            </a:r>
          </a:p>
          <a:p>
            <a:pPr algn="l">
              <a:spcAft>
                <a:spcPts val="450"/>
              </a:spcAft>
            </a:pPr>
            <a:r>
              <a:rPr lang="en-US" sz="1100" dirty="0">
                <a:solidFill>
                  <a:srgbClr val="94A3B8"/>
                </a:solidFill>
                <a:latin typeface="Arial"/>
                <a:cs typeface="Arial"/>
              </a:rPr>
              <a:t>• 1-click sample file downloads (.pdf, .docx, .txt, .json, .csv) built into every scenario.</a:t>
            </a:r>
          </a:p>
          <a:p>
            <a:pPr algn="l">
              <a:spcAft>
                <a:spcPts val="450"/>
              </a:spcAft>
            </a:pPr>
            <a:r>
              <a:rPr lang="en-US" sz="1100" dirty="0">
                <a:solidFill>
                  <a:srgbClr val="94A3B8"/>
                </a:solidFill>
                <a:latin typeface="Arial"/>
                <a:cs typeface="Arial"/>
              </a:rPr>
              <a:t>• Parsed locally in Node (node:zlib FlateDecode &amp; OOXML)—no external cloud parser.</a:t>
            </a:r>
          </a:p>
        </p:txBody>
      </p:sp>
      <p:sp>
        <p:nvSpPr>
          <p:cNvPr id="22" name="Card_22"/>
          <p:cNvSpPr/>
          <p:nvPr/>
        </p:nvSpPr>
        <p:spPr>
          <a:xfrm>
            <a:off x="4334256" y="1965960"/>
            <a:ext cx="3520440" cy="406908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STEP 2 · ZERO-LLM PRE-FLIGHT</a:t>
            </a:r>
          </a:p>
          <a:p>
            <a:pPr algn="l">
              <a:spcAft>
                <a:spcPts val="600"/>
              </a:spcAft>
            </a:pPr>
            <a:r>
              <a:rPr lang="en-US" sz="1500" b="1" dirty="0">
                <a:solidFill>
                  <a:srgbClr val="F8FAFC"/>
                </a:solidFill>
                <a:latin typeface="Arial"/>
                <a:cs typeface="Arial"/>
              </a:rPr>
              <a:t>Automatic Scan Only</a:t>
            </a:r>
          </a:p>
          <a:p>
            <a:pPr algn="l">
              <a:spcAft>
                <a:spcPts val="450"/>
              </a:spcAft>
            </a:pPr>
            <a:r>
              <a:rPr lang="en-US" sz="1100" dirty="0">
                <a:solidFill>
                  <a:srgbClr val="94A3B8"/>
                </a:solidFill>
                <a:latin typeface="Arial"/>
                <a:cs typeface="Arial"/>
              </a:rPr>
              <a:t>• Uploading automatically triggers Scan Only (/v1/debug/anonymize-preview).</a:t>
            </a:r>
          </a:p>
          <a:p>
            <a:pPr algn="l">
              <a:spcAft>
                <a:spcPts val="450"/>
              </a:spcAft>
            </a:pPr>
            <a:r>
              <a:rPr lang="en-US" sz="1100" dirty="0">
                <a:solidFill>
                  <a:srgbClr val="94A3B8"/>
                </a:solidFill>
                <a:latin typeface="Arial"/>
                <a:cs typeface="Arial"/>
              </a:rPr>
              <a:t>• Highlights every detected span in the extracted text without calling the upstream LLM.</a:t>
            </a:r>
          </a:p>
          <a:p>
            <a:pPr algn="l">
              <a:spcAft>
                <a:spcPts val="450"/>
              </a:spcAft>
            </a:pPr>
            <a:r>
              <a:rPr lang="en-US" sz="1100" dirty="0">
                <a:solidFill>
                  <a:srgbClr val="94A3B8"/>
                </a:solidFill>
                <a:latin typeface="Arial"/>
                <a:cs typeface="Arial"/>
              </a:rPr>
              <a:t>• Shows entity counts + Reversible vs. Permanent Mask policy badges.</a:t>
            </a:r>
          </a:p>
        </p:txBody>
      </p:sp>
      <p:sp>
        <p:nvSpPr>
          <p:cNvPr id="23" name="Card_23"/>
          <p:cNvSpPr/>
          <p:nvPr/>
        </p:nvSpPr>
        <p:spPr>
          <a:xfrm>
            <a:off x="8119872" y="1965960"/>
            <a:ext cx="3520440" cy="406908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STEP 3 · AI GATE VERDICT CARD</a:t>
            </a:r>
          </a:p>
          <a:p>
            <a:pPr algn="l">
              <a:spcAft>
                <a:spcPts val="600"/>
              </a:spcAft>
            </a:pPr>
            <a:r>
              <a:rPr lang="en-US" sz="1500" b="1" dirty="0">
                <a:solidFill>
                  <a:srgbClr val="F8FAFC"/>
                </a:solidFill>
                <a:latin typeface="Arial"/>
                <a:cs typeface="Arial"/>
              </a:rPr>
              <a:t>Blocked Direct vs. Governed Safe</a:t>
            </a:r>
          </a:p>
          <a:p>
            <a:pPr algn="l">
              <a:spcAft>
                <a:spcPts val="450"/>
              </a:spcAft>
            </a:pPr>
            <a:r>
              <a:rPr lang="en-US" sz="1100" dirty="0">
                <a:solidFill>
                  <a:srgbClr val="94A3B8"/>
                </a:solidFill>
                <a:latin typeface="Arial"/>
                <a:cs typeface="Arial"/>
              </a:rPr>
              <a:t>• Direct to Cloud LLM: BLOCKED (cites GDPR Art. 44 / DORA risk &amp; exact PII span count).</a:t>
            </a:r>
          </a:p>
          <a:p>
            <a:pPr algn="l">
              <a:spcAft>
                <a:spcPts val="450"/>
              </a:spcAft>
            </a:pPr>
            <a:r>
              <a:rPr lang="en-US" sz="1100" dirty="0">
                <a:solidFill>
                  <a:srgbClr val="94A3B8"/>
                </a:solidFill>
                <a:latin typeface="Arial"/>
                <a:cs typeface="Arial"/>
              </a:rPr>
              <a:t>• Via AnonReq Gateway: GOVERNED &amp; SAFE (Art. 32 pseudonymised).</a:t>
            </a:r>
          </a:p>
          <a:p>
            <a:pPr algn="l">
              <a:spcAft>
                <a:spcPts val="450"/>
              </a:spcAft>
            </a:pPr>
            <a:r>
              <a:rPr lang="en-US" sz="1100" dirty="0">
                <a:solidFill>
                  <a:srgbClr val="94A3B8"/>
                </a:solidFill>
                <a:latin typeface="Arial"/>
                <a:cs typeface="Arial"/>
              </a:rPr>
              <a:t>• 1-click Copy Masked Text or Download Sanitized (.txt).</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07 · PRODUCT · FOUR-COLUMN WIRE PROOF</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07/13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Why Column 03 Convinces Skeptical CISOs &amp; Judges</a:t>
            </a:r>
          </a:p>
          <a:p>
            <a:pPr algn="l">
              <a:spcAft>
                <a:spcPts val="0"/>
              </a:spcAft>
            </a:pPr>
            <a:r>
              <a:rPr lang="en-US" sz="1300" dirty="0">
                <a:solidFill>
                  <a:srgbClr val="94A3B8"/>
                </a:solidFill>
                <a:latin typeface="Arial"/>
                <a:cs typeface="Arial"/>
              </a:rPr>
              <a:t>Visualizes GDPR Art. 32 pseudonymisation &amp; Art. 44 transfer protection across the entire wire round-trip.</a:t>
            </a:r>
          </a:p>
        </p:txBody>
      </p:sp>
      <p:sp>
        <p:nvSpPr>
          <p:cNvPr id="21" name="Card_21"/>
          <p:cNvSpPr/>
          <p:nvPr/>
        </p:nvSpPr>
        <p:spPr>
          <a:xfrm>
            <a:off x="548640" y="1965960"/>
            <a:ext cx="2606040" cy="3383280"/>
          </a:xfrm>
          <a:prstGeom prst="roundRect">
            <a:avLst>
              <a:gd name="adj" fmla="val 4000"/>
            </a:avLst>
          </a:prstGeom>
          <a:solidFill>
            <a:srgbClr val="111827"/>
          </a:solidFill>
          <a:ln w="12700">
            <a:solidFill>
              <a:srgbClr val="334155"/>
            </a:solidFill>
          </a:ln>
        </p:spPr>
        <p:txBody>
          <a:bodyPr wrap="square" lIns="146304" tIns="146304" rIns="146304" bIns="146304" anchor="t"/>
          <a:lstStyle/>
          <a:p>
            <a:pPr algn="l">
              <a:spcAft>
                <a:spcPts val="300"/>
              </a:spcAft>
            </a:pPr>
            <a:r>
              <a:rPr lang="en-US" sz="950" b="1" dirty="0">
                <a:solidFill>
                  <a:srgbClr val="94A3B8"/>
                </a:solidFill>
                <a:latin typeface="Consolas"/>
                <a:cs typeface="Consolas"/>
              </a:rPr>
              <a:t>01 · RAW PROMPT</a:t>
            </a:r>
          </a:p>
          <a:p>
            <a:pPr algn="l">
              <a:spcAft>
                <a:spcPts val="600"/>
              </a:spcAft>
            </a:pPr>
            <a:r>
              <a:rPr lang="en-US" sz="1500" b="1" dirty="0">
                <a:solidFill>
                  <a:srgbClr val="F8FAFC"/>
                </a:solidFill>
                <a:latin typeface="Arial"/>
                <a:cs typeface="Arial"/>
              </a:rPr>
              <a:t>What You Sent</a:t>
            </a:r>
          </a:p>
          <a:p>
            <a:pPr algn="l">
              <a:spcAft>
                <a:spcPts val="450"/>
              </a:spcAft>
            </a:pPr>
            <a:r>
              <a:rPr lang="en-US" sz="1050" dirty="0">
                <a:solidFill>
                  <a:srgbClr val="F8FAFC"/>
                </a:solidFill>
                <a:latin typeface="Consolas"/>
                <a:cs typeface="Consolas"/>
              </a:rPr>
              <a:t>SEPA Dispute Ticket #4920</a:t>
            </a:r>
          </a:p>
          <a:p>
            <a:pPr algn="l">
              <a:spcAft>
                <a:spcPts val="450"/>
              </a:spcAft>
            </a:pPr>
            <a:r>
              <a:rPr lang="en-US" sz="1050" dirty="0">
                <a:solidFill>
                  <a:srgbClr val="F8FAFC"/>
                </a:solidFill>
                <a:latin typeface="Consolas"/>
                <a:cs typeface="Consolas"/>
              </a:rPr>
              <a:t>Customer: Jörg Müller</a:t>
            </a:r>
          </a:p>
          <a:p>
            <a:pPr algn="l">
              <a:spcAft>
                <a:spcPts val="450"/>
              </a:spcAft>
            </a:pPr>
            <a:r>
              <a:rPr lang="en-US" sz="1050" dirty="0">
                <a:solidFill>
                  <a:srgbClr val="F8FAFC"/>
                </a:solidFill>
                <a:latin typeface="Consolas"/>
                <a:cs typeface="Consolas"/>
              </a:rPr>
              <a:t>Hauptstraße 12, Frankfurt</a:t>
            </a:r>
          </a:p>
          <a:p>
            <a:pPr algn="l">
              <a:spcAft>
                <a:spcPts val="450"/>
              </a:spcAft>
            </a:pPr>
            <a:r>
              <a:rPr lang="en-US" sz="1050" dirty="0">
                <a:solidFill>
                  <a:srgbClr val="F8FAFC"/>
                </a:solidFill>
                <a:latin typeface="Consolas"/>
                <a:cs typeface="Consolas"/>
              </a:rPr>
              <a:t>Verify IBAN:</a:t>
            </a:r>
          </a:p>
          <a:p>
            <a:pPr algn="l">
              <a:spcAft>
                <a:spcPts val="450"/>
              </a:spcAft>
            </a:pPr>
            <a:r>
              <a:rPr lang="en-US" sz="1050" dirty="0">
                <a:solidFill>
                  <a:srgbClr val="F8FAFC"/>
                </a:solidFill>
                <a:latin typeface="Consolas"/>
                <a:cs typeface="Consolas"/>
              </a:rPr>
              <a:t>DE89 3704 0044 0532 0130 00</a:t>
            </a:r>
          </a:p>
          <a:p>
            <a:pPr algn="l">
              <a:spcAft>
                <a:spcPts val="450"/>
              </a:spcAft>
            </a:pPr>
            <a:r>
              <a:rPr lang="en-US" sz="1050" dirty="0">
                <a:solidFill>
                  <a:srgbClr val="F8FAFC"/>
                </a:solidFill>
                <a:latin typeface="Consolas"/>
                <a:cs typeface="Consolas"/>
              </a:rPr>
              <a:t>Steuer-ID: 86095742719</a:t>
            </a:r>
          </a:p>
          <a:p>
            <a:pPr algn="l">
              <a:spcAft>
                <a:spcPts val="450"/>
              </a:spcAft>
            </a:pPr>
            <a:r>
              <a:rPr lang="en-US" sz="1050" dirty="0">
                <a:solidFill>
                  <a:srgbClr val="F8FAFC"/>
                </a:solidFill>
                <a:latin typeface="Consolas"/>
                <a:cs typeface="Consolas"/>
              </a:rPr>
              <a:t>Chargeback: 14.03.2026</a:t>
            </a:r>
          </a:p>
        </p:txBody>
      </p:sp>
      <p:sp>
        <p:nvSpPr>
          <p:cNvPr id="22" name="Card_22"/>
          <p:cNvSpPr/>
          <p:nvPr/>
        </p:nvSpPr>
        <p:spPr>
          <a:xfrm>
            <a:off x="3364992" y="1965960"/>
            <a:ext cx="2606040" cy="338328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02 · ANONYMIZED PROMPT</a:t>
            </a:r>
          </a:p>
          <a:p>
            <a:pPr algn="l">
              <a:spcAft>
                <a:spcPts val="600"/>
              </a:spcAft>
            </a:pPr>
            <a:r>
              <a:rPr lang="en-US" sz="1500" b="1" dirty="0">
                <a:solidFill>
                  <a:srgbClr val="F8FAFC"/>
                </a:solidFill>
                <a:latin typeface="Arial"/>
                <a:cs typeface="Arial"/>
              </a:rPr>
              <a:t>What Leaves Perimeter</a:t>
            </a:r>
          </a:p>
          <a:p>
            <a:pPr algn="l">
              <a:spcAft>
                <a:spcPts val="450"/>
              </a:spcAft>
            </a:pPr>
            <a:r>
              <a:rPr lang="en-US" sz="1050" dirty="0">
                <a:solidFill>
                  <a:srgbClr val="F8FAFC"/>
                </a:solidFill>
                <a:latin typeface="Consolas"/>
                <a:cs typeface="Consolas"/>
              </a:rPr>
              <a:t>SEPA Dispute Ticket #4920</a:t>
            </a:r>
          </a:p>
          <a:p>
            <a:pPr algn="l">
              <a:spcAft>
                <a:spcPts val="450"/>
              </a:spcAft>
            </a:pPr>
            <a:r>
              <a:rPr lang="en-US" sz="1050" dirty="0">
                <a:solidFill>
                  <a:srgbClr val="F8FAFC"/>
                </a:solidFill>
                <a:latin typeface="Consolas"/>
                <a:cs typeface="Consolas"/>
              </a:rPr>
              <a:t>Customer: [PERSON_…6951]</a:t>
            </a:r>
          </a:p>
          <a:p>
            <a:pPr algn="l">
              <a:spcAft>
                <a:spcPts val="450"/>
              </a:spcAft>
            </a:pPr>
            <a:r>
              <a:rPr lang="en-US" sz="1050" dirty="0">
                <a:solidFill>
                  <a:srgbClr val="F8FAFC"/>
                </a:solidFill>
                <a:latin typeface="Consolas"/>
                <a:cs typeface="Consolas"/>
              </a:rPr>
              <a:t>[STREET_ADDRESS_DE_…6951]</a:t>
            </a:r>
          </a:p>
          <a:p>
            <a:pPr algn="l">
              <a:spcAft>
                <a:spcPts val="450"/>
              </a:spcAft>
            </a:pPr>
            <a:r>
              <a:rPr lang="en-US" sz="1050" dirty="0">
                <a:solidFill>
                  <a:srgbClr val="F8FAFC"/>
                </a:solidFill>
                <a:latin typeface="Consolas"/>
                <a:cs typeface="Consolas"/>
              </a:rPr>
              <a:t>Verify IBAN:</a:t>
            </a:r>
          </a:p>
          <a:p>
            <a:pPr algn="l">
              <a:spcAft>
                <a:spcPts val="450"/>
              </a:spcAft>
            </a:pPr>
            <a:r>
              <a:rPr lang="en-US" sz="1050" dirty="0">
                <a:solidFill>
                  <a:srgbClr val="F8FAFC"/>
                </a:solidFill>
                <a:latin typeface="Consolas"/>
                <a:cs typeface="Consolas"/>
              </a:rPr>
              <a:t>[IBAN_DE_…6951]</a:t>
            </a:r>
          </a:p>
          <a:p>
            <a:pPr algn="l">
              <a:spcAft>
                <a:spcPts val="450"/>
              </a:spcAft>
            </a:pPr>
            <a:r>
              <a:rPr lang="en-US" sz="1050" dirty="0">
                <a:solidFill>
                  <a:srgbClr val="F8FAFC"/>
                </a:solidFill>
                <a:latin typeface="Consolas"/>
                <a:cs typeface="Consolas"/>
              </a:rPr>
              <a:t>Steuer-ID: [TAX_ID_DE_…6951]</a:t>
            </a:r>
          </a:p>
          <a:p>
            <a:pPr algn="l">
              <a:spcAft>
                <a:spcPts val="450"/>
              </a:spcAft>
            </a:pPr>
            <a:r>
              <a:rPr lang="en-US" sz="1050" dirty="0">
                <a:solidFill>
                  <a:srgbClr val="F8FAFC"/>
                </a:solidFill>
                <a:latin typeface="Consolas"/>
                <a:cs typeface="Consolas"/>
              </a:rPr>
              <a:t>Chargeback: [DATE_DE_…6951]</a:t>
            </a:r>
          </a:p>
        </p:txBody>
      </p:sp>
      <p:sp>
        <p:nvSpPr>
          <p:cNvPr id="23" name="Card_23"/>
          <p:cNvSpPr/>
          <p:nvPr/>
        </p:nvSpPr>
        <p:spPr>
          <a:xfrm>
            <a:off x="6181344" y="1965960"/>
            <a:ext cx="2606040" cy="3383280"/>
          </a:xfrm>
          <a:prstGeom prst="roundRect">
            <a:avLst>
              <a:gd name="adj" fmla="val 4000"/>
            </a:avLst>
          </a:prstGeom>
          <a:solidFill>
            <a:srgbClr val="111827"/>
          </a:solidFill>
          <a:ln w="19050">
            <a:solidFill>
              <a:srgbClr val="38BDF8"/>
            </a:solidFill>
          </a:ln>
        </p:spPr>
        <p:txBody>
          <a:bodyPr wrap="square" lIns="146304" tIns="146304" rIns="146304" bIns="146304" anchor="t"/>
          <a:lstStyle/>
          <a:p>
            <a:pPr algn="l">
              <a:spcAft>
                <a:spcPts val="300"/>
              </a:spcAft>
            </a:pPr>
            <a:r>
              <a:rPr lang="en-US" sz="950" b="1" dirty="0">
                <a:solidFill>
                  <a:srgbClr val="38BDF8"/>
                </a:solidFill>
                <a:latin typeface="Consolas"/>
                <a:cs typeface="Consolas"/>
              </a:rPr>
              <a:t>03 · MODEL REPLY (RAW)</a:t>
            </a:r>
          </a:p>
          <a:p>
            <a:pPr algn="l">
              <a:spcAft>
                <a:spcPts val="600"/>
              </a:spcAft>
            </a:pPr>
            <a:r>
              <a:rPr lang="en-US" sz="1500" b="1" dirty="0">
                <a:solidFill>
                  <a:srgbClr val="F8FAFC"/>
                </a:solidFill>
                <a:latin typeface="Arial"/>
                <a:cs typeface="Arial"/>
              </a:rPr>
              <a:t>From Grok Before Restore</a:t>
            </a:r>
          </a:p>
          <a:p>
            <a:pPr algn="l">
              <a:spcAft>
                <a:spcPts val="450"/>
              </a:spcAft>
            </a:pPr>
            <a:r>
              <a:rPr lang="en-US" sz="1050" dirty="0">
                <a:solidFill>
                  <a:srgbClr val="F8FAFC"/>
                </a:solidFill>
                <a:latin typeface="Consolas"/>
                <a:cs typeface="Consolas"/>
              </a:rPr>
              <a:t>Dear [PERSON_…6776],</a:t>
            </a:r>
          </a:p>
          <a:p>
            <a:pPr algn="l">
              <a:spcAft>
                <a:spcPts val="450"/>
              </a:spcAft>
            </a:pPr>
            <a:r>
              <a:rPr lang="en-US" sz="1050" dirty="0">
                <a:solidFill>
                  <a:srgbClr val="F8FAFC"/>
                </a:solidFill>
                <a:latin typeface="Consolas"/>
                <a:cs typeface="Consolas"/>
              </a:rPr>
              <a:t>We have verified IBAN</a:t>
            </a:r>
          </a:p>
          <a:p>
            <a:pPr algn="l">
              <a:spcAft>
                <a:spcPts val="450"/>
              </a:spcAft>
            </a:pPr>
            <a:r>
              <a:rPr lang="en-US" sz="1050" dirty="0">
                <a:solidFill>
                  <a:srgbClr val="F8FAFC"/>
                </a:solidFill>
                <a:latin typeface="Consolas"/>
                <a:cs typeface="Consolas"/>
              </a:rPr>
              <a:t>[IBAN_DE_…6776] and Tax ID</a:t>
            </a:r>
          </a:p>
          <a:p>
            <a:pPr algn="l">
              <a:spcAft>
                <a:spcPts val="450"/>
              </a:spcAft>
            </a:pPr>
            <a:r>
              <a:rPr lang="en-US" sz="1050" dirty="0">
                <a:solidFill>
                  <a:srgbClr val="F8FAFC"/>
                </a:solidFill>
                <a:latin typeface="Consolas"/>
                <a:cs typeface="Consolas"/>
              </a:rPr>
              <a:t>[TAX_ID_DE_…6776]. The</a:t>
            </a:r>
          </a:p>
          <a:p>
            <a:pPr algn="l">
              <a:spcAft>
                <a:spcPts val="450"/>
              </a:spcAft>
            </a:pPr>
            <a:r>
              <a:rPr lang="en-US" sz="1050" dirty="0">
                <a:solidFill>
                  <a:srgbClr val="F8FAFC"/>
                </a:solidFill>
                <a:latin typeface="Consolas"/>
                <a:cs typeface="Consolas"/>
              </a:rPr>
              <a:t>chargeback remains scheduled</a:t>
            </a:r>
          </a:p>
          <a:p>
            <a:pPr algn="l">
              <a:spcAft>
                <a:spcPts val="450"/>
              </a:spcAft>
            </a:pPr>
            <a:r>
              <a:rPr lang="en-US" sz="1050" dirty="0">
                <a:solidFill>
                  <a:srgbClr val="F8FAFC"/>
                </a:solidFill>
                <a:latin typeface="Consolas"/>
                <a:cs typeface="Consolas"/>
              </a:rPr>
              <a:t>for [DATE_DE_…6776].</a:t>
            </a:r>
          </a:p>
        </p:txBody>
      </p:sp>
      <p:sp>
        <p:nvSpPr>
          <p:cNvPr id="24" name="Card_24"/>
          <p:cNvSpPr/>
          <p:nvPr/>
        </p:nvSpPr>
        <p:spPr>
          <a:xfrm>
            <a:off x="8997696" y="1965960"/>
            <a:ext cx="2642616" cy="338328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04 · RE-IDENTIFIED</a:t>
            </a:r>
          </a:p>
          <a:p>
            <a:pPr algn="l">
              <a:spcAft>
                <a:spcPts val="600"/>
              </a:spcAft>
            </a:pPr>
            <a:r>
              <a:rPr lang="en-US" sz="1500" b="1" dirty="0">
                <a:solidFill>
                  <a:srgbClr val="F8FAFC"/>
                </a:solidFill>
                <a:latin typeface="Arial"/>
                <a:cs typeface="Arial"/>
              </a:rPr>
              <a:t>Restored for Agent</a:t>
            </a:r>
          </a:p>
          <a:p>
            <a:pPr algn="l">
              <a:spcAft>
                <a:spcPts val="450"/>
              </a:spcAft>
            </a:pPr>
            <a:r>
              <a:rPr lang="en-US" sz="1050" dirty="0">
                <a:solidFill>
                  <a:srgbClr val="F8FAFC"/>
                </a:solidFill>
                <a:latin typeface="Consolas"/>
                <a:cs typeface="Consolas"/>
              </a:rPr>
              <a:t>Dear Jörg Müller,</a:t>
            </a:r>
          </a:p>
          <a:p>
            <a:pPr algn="l">
              <a:spcAft>
                <a:spcPts val="450"/>
              </a:spcAft>
            </a:pPr>
            <a:r>
              <a:rPr lang="en-US" sz="1050" dirty="0">
                <a:solidFill>
                  <a:srgbClr val="F8FAFC"/>
                </a:solidFill>
                <a:latin typeface="Consolas"/>
                <a:cs typeface="Consolas"/>
              </a:rPr>
              <a:t>We have verified IBAN</a:t>
            </a:r>
          </a:p>
          <a:p>
            <a:pPr algn="l">
              <a:spcAft>
                <a:spcPts val="450"/>
              </a:spcAft>
            </a:pPr>
            <a:r>
              <a:rPr lang="en-US" sz="1050" dirty="0">
                <a:solidFill>
                  <a:srgbClr val="F8FAFC"/>
                </a:solidFill>
                <a:latin typeface="Consolas"/>
                <a:cs typeface="Consolas"/>
              </a:rPr>
              <a:t>DE89 3704 0044 0532 0130 00</a:t>
            </a:r>
          </a:p>
          <a:p>
            <a:pPr algn="l">
              <a:spcAft>
                <a:spcPts val="450"/>
              </a:spcAft>
            </a:pPr>
            <a:r>
              <a:rPr lang="en-US" sz="1050" dirty="0">
                <a:solidFill>
                  <a:srgbClr val="F8FAFC"/>
                </a:solidFill>
                <a:latin typeface="Consolas"/>
                <a:cs typeface="Consolas"/>
              </a:rPr>
              <a:t>and Tax ID 86095742719.</a:t>
            </a:r>
          </a:p>
          <a:p>
            <a:pPr algn="l">
              <a:spcAft>
                <a:spcPts val="450"/>
              </a:spcAft>
            </a:pPr>
            <a:r>
              <a:rPr lang="en-US" sz="1050" dirty="0">
                <a:solidFill>
                  <a:srgbClr val="F8FAFC"/>
                </a:solidFill>
                <a:latin typeface="Consolas"/>
                <a:cs typeface="Consolas"/>
              </a:rPr>
              <a:t>The chargeback remains</a:t>
            </a:r>
          </a:p>
          <a:p>
            <a:pPr algn="l">
              <a:spcAft>
                <a:spcPts val="450"/>
              </a:spcAft>
            </a:pPr>
            <a:r>
              <a:rPr lang="en-US" sz="1050" dirty="0">
                <a:solidFill>
                  <a:srgbClr val="F8FAFC"/>
                </a:solidFill>
                <a:latin typeface="Consolas"/>
                <a:cs typeface="Consolas"/>
              </a:rPr>
              <a:t>scheduled for 14.03.2026.</a:t>
            </a:r>
          </a:p>
        </p:txBody>
      </p:sp>
      <p:sp>
        <p:nvSpPr>
          <p:cNvPr id="25" name="TechProof"/>
          <p:cNvSpPr/>
          <p:nvPr/>
        </p:nvSpPr>
        <p:spPr>
          <a:xfrm>
            <a:off x="548640" y="5486400"/>
            <a:ext cx="11091672" cy="621792"/>
          </a:xfrm>
          <a:prstGeom prst="roundRect">
            <a:avLst>
              <a:gd name="adj" fmla="val 4000"/>
            </a:avLst>
          </a:prstGeom>
          <a:solidFill>
            <a:srgbClr val="1E293B"/>
          </a:solidFill>
          <a:ln w="12700">
            <a:solidFill>
              <a:srgbClr val="334155"/>
            </a:solidFill>
          </a:ln>
        </p:spPr>
        <p:txBody>
          <a:bodyPr wrap="square" lIns="146304" tIns="146304" rIns="146304" bIns="146304" anchor="ctr"/>
          <a:lstStyle/>
          <a:p>
            <a:pPr algn="l">
              <a:spcAft>
                <a:spcPts val="400"/>
              </a:spcAft>
            </a:pPr>
            <a:r>
              <a:rPr lang="en-US" sz="1050" dirty="0">
                <a:solidFill>
                  <a:srgbClr val="F8FAFC"/>
                </a:solidFill>
                <a:latin typeface="Consolas"/>
                <a:cs typeface="Consolas"/>
              </a:rPr>
              <a:t>Technical proof (GDPR Art. 44): Column 03 renders choices[0].message.anonreq_raw_content captured from proc_ctx.provider_response before RestorationStage executes.</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08 · FIVE EU BUYER USE CASES</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08/13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Five Regulated German Workflows &amp; Their Policy Frameworks</a:t>
            </a:r>
          </a:p>
          <a:p>
            <a:pPr algn="l">
              <a:spcAft>
                <a:spcPts val="0"/>
              </a:spcAft>
            </a:pPr>
            <a:r>
              <a:rPr lang="en-US" sz="1300" dirty="0">
                <a:solidFill>
                  <a:srgbClr val="94A3B8"/>
                </a:solidFill>
                <a:latin typeface="Arial"/>
                <a:cs typeface="Arial"/>
              </a:rPr>
              <a:t>Each scenario in the live UI maps to specific German/EU regulatory obligations.</a:t>
            </a:r>
          </a:p>
        </p:txBody>
      </p:sp>
      <p:sp>
        <p:nvSpPr>
          <p:cNvPr id="30" name="Scenario_1"/>
          <p:cNvSpPr/>
          <p:nvPr/>
        </p:nvSpPr>
        <p:spPr>
          <a:xfrm>
            <a:off x="548640" y="1938528"/>
            <a:ext cx="11091672" cy="731520"/>
          </a:xfrm>
          <a:prstGeom prst="roundRect">
            <a:avLst>
              <a:gd name="adj" fmla="val 4000"/>
            </a:avLst>
          </a:prstGeom>
          <a:solidFill>
            <a:srgbClr val="111827"/>
          </a:solidFill>
          <a:ln w="19050">
            <a:solidFill>
              <a:srgbClr val="F59E0B"/>
            </a:solidFill>
          </a:ln>
        </p:spPr>
        <p:txBody>
          <a:bodyPr wrap="square" lIns="109728" tIns="109728" rIns="109728" bIns="109728" anchor="ctr"/>
          <a:lstStyle/>
          <a:p>
            <a:pPr algn="l">
              <a:spcAft>
                <a:spcPts val="300"/>
              </a:spcAft>
            </a:pPr>
            <a:r>
              <a:rPr lang="en-US" sz="1150" b="1" dirty="0">
                <a:solidFill>
                  <a:srgbClr val="F59E0B"/>
                </a:solidFill>
                <a:latin typeface="Arial"/>
                <a:cs typeface="Arial"/>
              </a:rPr>
              <a:t>1. Bank Support Ticket (Primary)   |   Regulations: GDPR Art. 44 + DORA Art. 28 + BaFin VAIT</a:t>
            </a:r>
          </a:p>
          <a:p>
            <a:pPr algn="l">
              <a:spcAft>
                <a:spcPts val="0"/>
              </a:spcAft>
            </a:pPr>
            <a:r>
              <a:rPr lang="en-US" sz="1020" dirty="0">
                <a:solidFill>
                  <a:srgbClr val="94A3B8"/>
                </a:solidFill>
                <a:latin typeface="Consolas"/>
                <a:cs typeface="Consolas"/>
              </a:rPr>
              <a:t>Entities: IBAN_DE, TAX_ID_DE, PERSON, STREET_ADDRESS_DE   -&gt;   Control: SEPA &amp; Steuer-ID governed; tuned MNPI exclusions</a:t>
            </a:r>
          </a:p>
        </p:txBody>
      </p:sp>
      <p:sp>
        <p:nvSpPr>
          <p:cNvPr id="31" name="Scenario_2"/>
          <p:cNvSpPr/>
          <p:nvPr/>
        </p:nvSpPr>
        <p:spPr>
          <a:xfrm>
            <a:off x="548640" y="2761488"/>
            <a:ext cx="11091672" cy="731520"/>
          </a:xfrm>
          <a:prstGeom prst="roundRect">
            <a:avLst>
              <a:gd name="adj" fmla="val 4000"/>
            </a:avLst>
          </a:prstGeom>
          <a:solidFill>
            <a:srgbClr val="111827"/>
          </a:solidFill>
          <a:ln w="19050">
            <a:solidFill>
              <a:srgbClr val="38BDF8"/>
            </a:solidFill>
          </a:ln>
        </p:spPr>
        <p:txBody>
          <a:bodyPr wrap="square" lIns="109728" tIns="109728" rIns="109728" bIns="109728" anchor="ctr"/>
          <a:lstStyle/>
          <a:p>
            <a:pPr algn="l">
              <a:spcAft>
                <a:spcPts val="300"/>
              </a:spcAft>
            </a:pPr>
            <a:r>
              <a:rPr lang="en-US" sz="1150" b="1" dirty="0">
                <a:solidFill>
                  <a:srgbClr val="F8FAFC"/>
                </a:solidFill>
                <a:latin typeface="Arial"/>
                <a:cs typeface="Arial"/>
              </a:rPr>
              <a:t>2. Insurance Claim (Kfz)   |   Regulations: GDPR Art. 9 (Health) + Art. 32 + BDSG</a:t>
            </a:r>
          </a:p>
          <a:p>
            <a:pPr algn="l">
              <a:spcAft>
                <a:spcPts val="0"/>
              </a:spcAft>
            </a:pPr>
            <a:r>
              <a:rPr lang="en-US" sz="1020" dirty="0">
                <a:solidFill>
                  <a:srgbClr val="94A3B8"/>
                </a:solidFill>
                <a:latin typeface="Consolas"/>
                <a:cs typeface="Consolas"/>
              </a:rPr>
              <a:t>Entities: KVNR, PERSONAL_AUSWEIS, AKTENZEICHEN, IBAN_DE   -&gt;   Control: Protects Art. 9 health ID + German national ID</a:t>
            </a:r>
          </a:p>
        </p:txBody>
      </p:sp>
      <p:sp>
        <p:nvSpPr>
          <p:cNvPr id="32" name="Scenario_3"/>
          <p:cNvSpPr/>
          <p:nvPr/>
        </p:nvSpPr>
        <p:spPr>
          <a:xfrm>
            <a:off x="548640" y="3584448"/>
            <a:ext cx="11091672" cy="731520"/>
          </a:xfrm>
          <a:prstGeom prst="roundRect">
            <a:avLst>
              <a:gd name="adj" fmla="val 4000"/>
            </a:avLst>
          </a:prstGeom>
          <a:solidFill>
            <a:srgbClr val="111827"/>
          </a:solidFill>
          <a:ln w="12700">
            <a:solidFill>
              <a:srgbClr val="334155"/>
            </a:solidFill>
          </a:ln>
        </p:spPr>
        <p:txBody>
          <a:bodyPr wrap="square" lIns="109728" tIns="109728" rIns="109728" bIns="109728" anchor="ctr"/>
          <a:lstStyle/>
          <a:p>
            <a:pPr algn="l">
              <a:spcAft>
                <a:spcPts val="300"/>
              </a:spcAft>
            </a:pPr>
            <a:r>
              <a:rPr lang="en-US" sz="1150" b="1" dirty="0">
                <a:solidFill>
                  <a:srgbClr val="F8FAFC"/>
                </a:solidFill>
                <a:latin typeface="Arial"/>
                <a:cs typeface="Arial"/>
              </a:rPr>
              <a:t>3. HR / CV Screening   |   Regulations: BetrVG § 87 (Betriebsrat) + BDSG § 26 + AGG</a:t>
            </a:r>
          </a:p>
          <a:p>
            <a:pPr algn="l">
              <a:spcAft>
                <a:spcPts val="0"/>
              </a:spcAft>
            </a:pPr>
            <a:r>
              <a:rPr lang="en-US" sz="1020" dirty="0">
                <a:solidFill>
                  <a:srgbClr val="94A3B8"/>
                </a:solidFill>
                <a:latin typeface="Consolas"/>
                <a:cs typeface="Consolas"/>
              </a:rPr>
              <a:t>Entities: PERSON, DATE_DE, STREET_ADDRESS_DE, TAX_ID_DE   -&gt;   Control: Works-council-safe blind skills summarization</a:t>
            </a:r>
          </a:p>
        </p:txBody>
      </p:sp>
      <p:sp>
        <p:nvSpPr>
          <p:cNvPr id="33" name="Scenario_4"/>
          <p:cNvSpPr/>
          <p:nvPr/>
        </p:nvSpPr>
        <p:spPr>
          <a:xfrm>
            <a:off x="548640" y="4407408"/>
            <a:ext cx="11091672" cy="731520"/>
          </a:xfrm>
          <a:prstGeom prst="roundRect">
            <a:avLst>
              <a:gd name="adj" fmla="val 4000"/>
            </a:avLst>
          </a:prstGeom>
          <a:solidFill>
            <a:srgbClr val="111827"/>
          </a:solidFill>
          <a:ln w="12700">
            <a:solidFill>
              <a:srgbClr val="334155"/>
            </a:solidFill>
          </a:ln>
        </p:spPr>
        <p:txBody>
          <a:bodyPr wrap="square" lIns="109728" tIns="109728" rIns="109728" bIns="109728" anchor="ctr"/>
          <a:lstStyle/>
          <a:p>
            <a:pPr algn="l">
              <a:spcAft>
                <a:spcPts val="300"/>
              </a:spcAft>
            </a:pPr>
            <a:r>
              <a:rPr lang="en-US" sz="1150" b="1" dirty="0">
                <a:solidFill>
                  <a:srgbClr val="F8FAFC"/>
                </a:solidFill>
                <a:latin typeface="Arial"/>
                <a:cs typeface="Arial"/>
              </a:rPr>
              <a:t>4. Energy Grid Ops (KRITIS)   |   Regulations: NIS2 Art. 21/24 + BSIG KRITIS + GDPR</a:t>
            </a:r>
          </a:p>
          <a:p>
            <a:pPr algn="l">
              <a:spcAft>
                <a:spcPts val="0"/>
              </a:spcAft>
            </a:pPr>
            <a:r>
              <a:rPr lang="en-US" sz="1020" dirty="0">
                <a:solidFill>
                  <a:srgbClr val="94A3B8"/>
                </a:solidFill>
                <a:latin typeface="Consolas"/>
                <a:cs typeface="Consolas"/>
              </a:rPr>
              <a:t>Entities: SITE_ID (UW-NORD-0417), ACCOUNT_NUMBER_DE   -&gt;   Control: Masks critical substation IDs &amp; technician phones</a:t>
            </a:r>
          </a:p>
        </p:txBody>
      </p:sp>
      <p:sp>
        <p:nvSpPr>
          <p:cNvPr id="34" name="Scenario_5"/>
          <p:cNvSpPr/>
          <p:nvPr/>
        </p:nvSpPr>
        <p:spPr>
          <a:xfrm>
            <a:off x="548640" y="5230368"/>
            <a:ext cx="11091672" cy="731520"/>
          </a:xfrm>
          <a:prstGeom prst="roundRect">
            <a:avLst>
              <a:gd name="adj" fmla="val 4000"/>
            </a:avLst>
          </a:prstGeom>
          <a:solidFill>
            <a:srgbClr val="111827"/>
          </a:solidFill>
          <a:ln w="19050">
            <a:solidFill>
              <a:srgbClr val="10B981"/>
            </a:solidFill>
          </a:ln>
        </p:spPr>
        <p:txBody>
          <a:bodyPr wrap="square" lIns="109728" tIns="109728" rIns="109728" bIns="109728" anchor="ctr"/>
          <a:lstStyle/>
          <a:p>
            <a:pPr algn="l">
              <a:spcAft>
                <a:spcPts val="300"/>
              </a:spcAft>
            </a:pPr>
            <a:r>
              <a:rPr lang="en-US" sz="1150" b="1" dirty="0">
                <a:solidFill>
                  <a:srgbClr val="F8FAFC"/>
                </a:solidFill>
                <a:latin typeface="Arial"/>
                <a:cs typeface="Arial"/>
              </a:rPr>
              <a:t>5. Agent Tool Call + Secret   |   Regulations: EU AI Act Art. 12/14 + NIS2 Supply Chain</a:t>
            </a:r>
          </a:p>
          <a:p>
            <a:pPr algn="l">
              <a:spcAft>
                <a:spcPts val="0"/>
              </a:spcAft>
            </a:pPr>
            <a:r>
              <a:rPr lang="en-US" sz="1020" dirty="0">
                <a:solidFill>
                  <a:srgbClr val="94A3B8"/>
                </a:solidFill>
                <a:latin typeface="Consolas"/>
                <a:cs typeface="Consolas"/>
              </a:rPr>
              <a:t>Entities: PERSON, IBAN_DE (Reversible) + API_KEY (Permanent)   -&gt;   Control: Differential policy: PII restores; API_KEY stays masked</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09 · SPONSOR ARCHITECTURE</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09/13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xAI Grok Upstream + GlassFlow (Rius &amp; Tares)</a:t>
            </a:r>
          </a:p>
          <a:p>
            <a:pPr algn="l">
              <a:spcAft>
                <a:spcPts val="0"/>
              </a:spcAft>
            </a:pPr>
            <a:r>
              <a:rPr lang="en-US" sz="1300" dirty="0">
                <a:solidFill>
                  <a:srgbClr val="94A3B8"/>
                </a:solidFill>
                <a:latin typeface="Arial"/>
                <a:cs typeface="Arial"/>
              </a:rPr>
              <a:t>Frontier reasoning via xAI Grok paired with EU AI Act Art. 12 / GDPR Art. 5(2) zero-PII observability.</a:t>
            </a:r>
          </a:p>
        </p:txBody>
      </p:sp>
      <p:sp>
        <p:nvSpPr>
          <p:cNvPr id="21" name="Card_21"/>
          <p:cNvSpPr/>
          <p:nvPr/>
        </p:nvSpPr>
        <p:spPr>
          <a:xfrm>
            <a:off x="548640" y="1965960"/>
            <a:ext cx="3520440" cy="406908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UPSTREAM LLM · xAI GROK</a:t>
            </a:r>
          </a:p>
          <a:p>
            <a:pPr algn="l">
              <a:spcAft>
                <a:spcPts val="600"/>
              </a:spcAft>
            </a:pPr>
            <a:r>
              <a:rPr lang="en-US" sz="1500" b="1" dirty="0">
                <a:solidFill>
                  <a:srgbClr val="F8FAFC"/>
                </a:solidFill>
                <a:latin typeface="Arial"/>
                <a:cs typeface="Arial"/>
              </a:rPr>
              <a:t>grok-4 via OpenAI Adapter</a:t>
            </a:r>
          </a:p>
          <a:p>
            <a:pPr algn="l">
              <a:spcAft>
                <a:spcPts val="450"/>
              </a:spcAft>
            </a:pPr>
            <a:r>
              <a:rPr lang="en-US" sz="1100" dirty="0">
                <a:solidFill>
                  <a:srgbClr val="94A3B8"/>
                </a:solidFill>
                <a:latin typeface="Arial"/>
                <a:cs typeface="Arial"/>
              </a:rPr>
              <a:t>• Configured via PROVIDER_BASE_URL=https://api.x.ai/v1 and config/model_aliases.demo.yaml.</a:t>
            </a:r>
          </a:p>
          <a:p>
            <a:pPr algn="l">
              <a:spcAft>
                <a:spcPts val="450"/>
              </a:spcAft>
            </a:pPr>
            <a:r>
              <a:rPr lang="en-US" sz="1100" dirty="0">
                <a:solidFill>
                  <a:srgbClr val="94A3B8"/>
                </a:solidFill>
                <a:latin typeface="Arial"/>
                <a:cs typeface="Arial"/>
              </a:rPr>
              <a:t>• Receives only tokenized prompts ([PERSON_…], [IBAN_DE_…]) — satisfying GDPR Art. 44.</a:t>
            </a:r>
          </a:p>
          <a:p>
            <a:pPr algn="l">
              <a:spcAft>
                <a:spcPts val="450"/>
              </a:spcAft>
            </a:pPr>
            <a:r>
              <a:rPr lang="en-US" sz="1100" dirty="0">
                <a:solidFill>
                  <a:srgbClr val="94A3B8"/>
                </a:solidFill>
                <a:latin typeface="Arial"/>
                <a:cs typeface="Arial"/>
              </a:rPr>
              <a:t>• Handles As-Is, Summarize, Draft Reply, and Extract JSON Fields presets.</a:t>
            </a:r>
          </a:p>
        </p:txBody>
      </p:sp>
      <p:sp>
        <p:nvSpPr>
          <p:cNvPr id="22" name="Card_22"/>
          <p:cNvSpPr/>
          <p:nvPr/>
        </p:nvSpPr>
        <p:spPr>
          <a:xfrm>
            <a:off x="4334256" y="1965960"/>
            <a:ext cx="3520440" cy="4069080"/>
          </a:xfrm>
          <a:prstGeom prst="roundRect">
            <a:avLst>
              <a:gd name="adj" fmla="val 4000"/>
            </a:avLst>
          </a:prstGeom>
          <a:solidFill>
            <a:srgbClr val="111827"/>
          </a:solidFill>
          <a:ln w="19050">
            <a:solidFill>
              <a:srgbClr val="38BDF8"/>
            </a:solidFill>
          </a:ln>
        </p:spPr>
        <p:txBody>
          <a:bodyPr wrap="square" lIns="146304" tIns="146304" rIns="146304" bIns="146304" anchor="t"/>
          <a:lstStyle/>
          <a:p>
            <a:pPr algn="l">
              <a:spcAft>
                <a:spcPts val="300"/>
              </a:spcAft>
            </a:pPr>
            <a:r>
              <a:rPr lang="en-US" sz="950" b="1" dirty="0">
                <a:solidFill>
                  <a:srgbClr val="38BDF8"/>
                </a:solidFill>
                <a:latin typeface="Consolas"/>
                <a:cs typeface="Consolas"/>
              </a:rPr>
              <a:t>OBSERVABILITY · GLASSFLOW RIUS</a:t>
            </a:r>
          </a:p>
          <a:p>
            <a:pPr algn="l">
              <a:spcAft>
                <a:spcPts val="600"/>
              </a:spcAft>
            </a:pPr>
            <a:r>
              <a:rPr lang="en-US" sz="1500" b="1" dirty="0">
                <a:solidFill>
                  <a:srgbClr val="F8FAFC"/>
                </a:solidFill>
                <a:latin typeface="Arial"/>
                <a:cs typeface="Arial"/>
              </a:rPr>
              <a:t>Zero-PII 3-Span OTEL Trace</a:t>
            </a:r>
          </a:p>
          <a:p>
            <a:pPr algn="l">
              <a:spcAft>
                <a:spcPts val="450"/>
              </a:spcAft>
            </a:pPr>
            <a:r>
              <a:rPr lang="en-US" sz="1100" dirty="0">
                <a:solidFill>
                  <a:srgbClr val="94A3B8"/>
                </a:solidFill>
                <a:latin typeface="Arial"/>
                <a:cs typeface="Arial"/>
              </a:rPr>
              <a:t>• Span 1: anonreq.gateway.chat</a:t>
            </a:r>
          </a:p>
          <a:p>
            <a:pPr algn="l">
              <a:spcAft>
                <a:spcPts val="450"/>
              </a:spcAft>
            </a:pPr>
            <a:r>
              <a:rPr lang="en-US" sz="1100" dirty="0">
                <a:solidFill>
                  <a:srgbClr val="94A3B8"/>
                </a:solidFill>
                <a:latin typeface="Arial"/>
                <a:cs typeface="Arial"/>
              </a:rPr>
              <a:t>• Span 2: anonreq.presidio.anonymize</a:t>
            </a:r>
          </a:p>
          <a:p>
            <a:pPr algn="l">
              <a:spcAft>
                <a:spcPts val="450"/>
              </a:spcAft>
            </a:pPr>
            <a:r>
              <a:rPr lang="en-US" sz="1100" dirty="0">
                <a:solidFill>
                  <a:srgbClr val="94A3B8"/>
                </a:solidFill>
                <a:latin typeface="Arial"/>
                <a:cs typeface="Arial"/>
              </a:rPr>
              <a:t>• Span 3: xai.grok.chat_completions</a:t>
            </a:r>
          </a:p>
          <a:p>
            <a:pPr algn="l">
              <a:spcAft>
                <a:spcPts val="450"/>
              </a:spcAft>
            </a:pPr>
            <a:r>
              <a:rPr lang="en-US" sz="1100" dirty="0">
                <a:solidFill>
                  <a:srgbClr val="94A3B8"/>
                </a:solidFill>
                <a:latin typeface="Arial"/>
                <a:cs typeface="Arial"/>
              </a:rPr>
              <a:t>• Supports EU AI Act Art. 12 logging without leaking cleartext PII into observability tools.</a:t>
            </a:r>
          </a:p>
        </p:txBody>
      </p:sp>
      <p:sp>
        <p:nvSpPr>
          <p:cNvPr id="23" name="Card_23"/>
          <p:cNvSpPr/>
          <p:nvPr/>
        </p:nvSpPr>
        <p:spPr>
          <a:xfrm>
            <a:off x="8119872" y="1965960"/>
            <a:ext cx="3520440" cy="406908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CONTEXT · GLASSFLOW TARES</a:t>
            </a:r>
          </a:p>
          <a:p>
            <a:pPr algn="l">
              <a:spcAft>
                <a:spcPts val="600"/>
              </a:spcAft>
            </a:pPr>
            <a:r>
              <a:rPr lang="en-US" sz="1500" b="1" dirty="0">
                <a:solidFill>
                  <a:srgbClr val="F8FAFC"/>
                </a:solidFill>
                <a:latin typeface="Arial"/>
                <a:cs typeface="Arial"/>
              </a:rPr>
              <a:t>CloudEvents 1.0 Timeline</a:t>
            </a:r>
          </a:p>
          <a:p>
            <a:pPr algn="l">
              <a:spcAft>
                <a:spcPts val="450"/>
              </a:spcAft>
            </a:pPr>
            <a:r>
              <a:rPr lang="en-US" sz="1100" dirty="0">
                <a:solidFill>
                  <a:srgbClr val="94A3B8"/>
                </a:solidFill>
                <a:latin typeface="Arial"/>
                <a:cs typeface="Arial"/>
              </a:rPr>
              <a:t>• Event: ai.anonreq.gateway.sanitized_interaction</a:t>
            </a:r>
          </a:p>
          <a:p>
            <a:pPr algn="l">
              <a:spcAft>
                <a:spcPts val="450"/>
              </a:spcAft>
            </a:pPr>
            <a:r>
              <a:rPr lang="en-US" sz="1100" dirty="0">
                <a:solidFill>
                  <a:srgbClr val="94A3B8"/>
                </a:solidFill>
                <a:latin typeface="Arial"/>
                <a:cs typeface="Arial"/>
              </a:rPr>
              <a:t>• Correlates per-tenant / per-ticket timelines using sanitized prompts &amp; entity manifests.</a:t>
            </a:r>
          </a:p>
          <a:p>
            <a:pPr algn="l">
              <a:spcAft>
                <a:spcPts val="450"/>
              </a:spcAft>
            </a:pPr>
            <a:r>
              <a:rPr lang="en-US" sz="1100" dirty="0">
                <a:solidFill>
                  <a:srgbClr val="94A3B8"/>
                </a:solidFill>
                <a:latin typeface="Arial"/>
                <a:cs typeface="Arial"/>
              </a:rPr>
              <a:t>• Optional live webhook forwarding via GLASSFLOW_TARES_WEBHOOK_URL.</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10 · CISO &amp; DPO CONTROLS</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10/13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Fail-Closed Circuit Breaker &amp; Zero-PII Audit CSV</a:t>
            </a:r>
          </a:p>
          <a:p>
            <a:pPr algn="l">
              <a:spcAft>
                <a:spcPts val="0"/>
              </a:spcAft>
            </a:pPr>
            <a:r>
              <a:rPr lang="en-US" sz="1300" dirty="0">
                <a:solidFill>
                  <a:srgbClr val="94A3B8"/>
                </a:solidFill>
                <a:latin typeface="Arial"/>
                <a:cs typeface="Arial"/>
              </a:rPr>
              <a:t>Direct evidence for GDPR Art. 5(2) / Art. 30, EU AI Act Art. 26(6), and DORA Art. 5 / Art. 9.</a:t>
            </a:r>
          </a:p>
        </p:txBody>
      </p:sp>
      <p:sp>
        <p:nvSpPr>
          <p:cNvPr id="21" name="Card_21"/>
          <p:cNvSpPr/>
          <p:nvPr/>
        </p:nvSpPr>
        <p:spPr>
          <a:xfrm>
            <a:off x="548640" y="1965960"/>
            <a:ext cx="5394960" cy="406908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1-CLICK DPO HANDSHAKE (GDPR ART. 30 &amp; AI ACT ART. 12)</a:t>
            </a:r>
          </a:p>
          <a:p>
            <a:pPr algn="l">
              <a:spcAft>
                <a:spcPts val="600"/>
              </a:spcAft>
            </a:pPr>
            <a:r>
              <a:rPr lang="en-US" sz="1500" b="1" dirty="0">
                <a:solidFill>
                  <a:srgbClr val="F8FAFC"/>
                </a:solidFill>
                <a:latin typeface="Arial"/>
                <a:cs typeface="Arial"/>
              </a:rPr>
              <a:t>Metadata-Only Audit Export (GET /api/audit/export)</a:t>
            </a:r>
          </a:p>
          <a:p>
            <a:pPr algn="l">
              <a:spcAft>
                <a:spcPts val="450"/>
              </a:spcAft>
            </a:pPr>
            <a:r>
              <a:rPr lang="en-US" sz="1100" dirty="0">
                <a:solidFill>
                  <a:srgbClr val="94A3B8"/>
                </a:solidFill>
                <a:latin typeface="Arial"/>
                <a:cs typeface="Arial"/>
              </a:rPr>
              <a:t>• Exports text/csv from /v1/admin/anonymization-events/export.</a:t>
            </a:r>
          </a:p>
          <a:p>
            <a:pPr algn="l">
              <a:spcAft>
                <a:spcPts val="450"/>
              </a:spcAft>
            </a:pPr>
            <a:r>
              <a:rPr lang="en-US" sz="1100" dirty="0">
                <a:solidFill>
                  <a:srgbClr val="94A3B8"/>
                </a:solidFill>
                <a:latin typeface="Arial"/>
                <a:cs typeface="Arial"/>
              </a:rPr>
              <a:t>• Records event_id, timestamp, tenant_id, entity_types, entity_count, action_taken, and sensitivity.</a:t>
            </a:r>
          </a:p>
          <a:p>
            <a:pPr algn="l">
              <a:spcAft>
                <a:spcPts val="450"/>
              </a:spcAft>
            </a:pPr>
            <a:r>
              <a:rPr lang="en-US" sz="1100" dirty="0">
                <a:solidFill>
                  <a:srgbClr val="94A3B8"/>
                </a:solidFill>
                <a:latin typeface="Arial"/>
                <a:cs typeface="Arial"/>
              </a:rPr>
              <a:t>• Zero raw PII is ever written to SQLite/Postgres audit tables.</a:t>
            </a:r>
          </a:p>
          <a:p>
            <a:pPr algn="l">
              <a:spcAft>
                <a:spcPts val="450"/>
              </a:spcAft>
            </a:pPr>
            <a:r>
              <a:rPr lang="en-US" sz="1100" dirty="0">
                <a:solidFill>
                  <a:srgbClr val="94A3B8"/>
                </a:solidFill>
                <a:latin typeface="Arial"/>
                <a:cs typeface="Arial"/>
              </a:rPr>
              <a:t>• Sample Row: 93bf...,2026-10-30T...,"IBAN_DE,PERSON,TAX_ID_DE",8,ANONYMIZE,HIGH</a:t>
            </a:r>
          </a:p>
        </p:txBody>
      </p:sp>
      <p:sp>
        <p:nvSpPr>
          <p:cNvPr id="22" name="Card_22"/>
          <p:cNvSpPr/>
          <p:nvPr/>
        </p:nvSpPr>
        <p:spPr>
          <a:xfrm>
            <a:off x="6245352" y="1965960"/>
            <a:ext cx="5394960" cy="4069080"/>
          </a:xfrm>
          <a:prstGeom prst="roundRect">
            <a:avLst>
              <a:gd name="adj" fmla="val 4000"/>
            </a:avLst>
          </a:prstGeom>
          <a:solidFill>
            <a:srgbClr val="111827"/>
          </a:solidFill>
          <a:ln w="19050">
            <a:solidFill>
              <a:srgbClr val="EF4444"/>
            </a:solidFill>
          </a:ln>
        </p:spPr>
        <p:txBody>
          <a:bodyPr wrap="square" lIns="146304" tIns="146304" rIns="146304" bIns="146304" anchor="t"/>
          <a:lstStyle/>
          <a:p>
            <a:pPr algn="l">
              <a:spcAft>
                <a:spcPts val="300"/>
              </a:spcAft>
            </a:pPr>
            <a:r>
              <a:rPr lang="en-US" sz="950" b="1" dirty="0">
                <a:solidFill>
                  <a:srgbClr val="EF4444"/>
                </a:solidFill>
                <a:latin typeface="Consolas"/>
                <a:cs typeface="Consolas"/>
              </a:rPr>
              <a:t>FAIL-CLOSED KILL SWITCH (GDPR ART. 25 &amp; DORA ART. 9)</a:t>
            </a:r>
          </a:p>
          <a:p>
            <a:pPr algn="l">
              <a:spcAft>
                <a:spcPts val="600"/>
              </a:spcAft>
            </a:pPr>
            <a:r>
              <a:rPr lang="en-US" sz="1500" b="1" dirty="0">
                <a:solidFill>
                  <a:srgbClr val="F8FAFC"/>
                </a:solidFill>
                <a:latin typeface="Arial"/>
                <a:cs typeface="Arial"/>
              </a:rPr>
              <a:t>Zero Leaks When Detection Is Unreachable</a:t>
            </a:r>
          </a:p>
          <a:p>
            <a:pPr algn="l">
              <a:spcAft>
                <a:spcPts val="450"/>
              </a:spcAft>
            </a:pPr>
            <a:r>
              <a:rPr lang="en-US" sz="1100" dirty="0">
                <a:solidFill>
                  <a:srgbClr val="94A3B8"/>
                </a:solidFill>
                <a:latin typeface="Arial"/>
                <a:cs typeface="Arial"/>
              </a:rPr>
              <a:t>• If Presidio or Valkey fails health/timeout checks, AnonReq aborts before calling the LLM provider.</a:t>
            </a:r>
          </a:p>
          <a:p>
            <a:pPr algn="l">
              <a:spcAft>
                <a:spcPts val="450"/>
              </a:spcAft>
            </a:pPr>
            <a:r>
              <a:rPr lang="en-US" sz="1100" dirty="0">
                <a:solidFill>
                  <a:srgbClr val="94A3B8"/>
                </a:solidFill>
                <a:latin typeface="Arial"/>
                <a:cs typeface="Arial"/>
              </a:rPr>
              <a:t>• Returns HTTP 503 Service Unavailable (fail_closed).</a:t>
            </a:r>
          </a:p>
          <a:p>
            <a:pPr algn="l">
              <a:spcAft>
                <a:spcPts val="450"/>
              </a:spcAft>
            </a:pPr>
            <a:r>
              <a:rPr lang="en-US" sz="1100" dirty="0">
                <a:solidFill>
                  <a:srgbClr val="94A3B8"/>
                </a:solidFill>
                <a:latin typeface="Arial"/>
                <a:cs typeface="Arial"/>
              </a:rPr>
              <a:t>• Live Command: docker compose -f docker-compose.yml -f docker-compose.germany.yml -f docker-compose.demo.yml stop presidio-analyzer</a:t>
            </a:r>
          </a:p>
          <a:p>
            <a:pPr algn="l">
              <a:spcAft>
                <a:spcPts val="450"/>
              </a:spcAft>
            </a:pPr>
            <a:r>
              <a:rPr lang="en-US" sz="1100" dirty="0">
                <a:solidFill>
                  <a:srgbClr val="94A3B8"/>
                </a:solidFill>
                <a:latin typeface="Arial"/>
                <a:cs typeface="Arial"/>
              </a:rPr>
              <a:t>• Result: Immediate HTTP 503 block (0 bytes sent to xAI).</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11 · PRODUCTION DEPTH</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11/13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Built as an Enterprise Gateway — Not Just a Hackathon Toy</a:t>
            </a:r>
          </a:p>
          <a:p>
            <a:pPr algn="l">
              <a:spcAft>
                <a:spcPts val="0"/>
              </a:spcAft>
            </a:pPr>
            <a:r>
              <a:rPr lang="en-US" sz="1300" dirty="0">
                <a:solidFill>
                  <a:srgbClr val="94A3B8"/>
                </a:solidFill>
                <a:latin typeface="Arial"/>
                <a:cs typeface="Arial"/>
              </a:rPr>
              <a:t>Mapped across 9 frameworks (GDPR, EU AI Act, DORA, NIS2, ISO 27001, ISO 42001, EBA, SEC, FINRA).</a:t>
            </a:r>
          </a:p>
        </p:txBody>
      </p:sp>
      <p:sp>
        <p:nvSpPr>
          <p:cNvPr id="21" name="Card_21"/>
          <p:cNvSpPr/>
          <p:nvPr/>
        </p:nvSpPr>
        <p:spPr>
          <a:xfrm>
            <a:off x="548640" y="1965960"/>
            <a:ext cx="3520440" cy="406908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SECURITY &amp; GOVERNANCE</a:t>
            </a:r>
          </a:p>
          <a:p>
            <a:pPr algn="l">
              <a:spcAft>
                <a:spcPts val="600"/>
              </a:spcAft>
            </a:pPr>
            <a:r>
              <a:rPr lang="en-US" sz="1500" b="1" dirty="0">
                <a:solidFill>
                  <a:srgbClr val="F8FAFC"/>
                </a:solidFill>
                <a:latin typeface="Arial"/>
                <a:cs typeface="Arial"/>
              </a:rPr>
              <a:t>AI Firewall, DLP &amp; RBAC</a:t>
            </a:r>
          </a:p>
          <a:p>
            <a:pPr algn="l">
              <a:spcAft>
                <a:spcPts val="450"/>
              </a:spcAft>
            </a:pPr>
            <a:r>
              <a:rPr lang="en-US" sz="1100" dirty="0">
                <a:solidFill>
                  <a:srgbClr val="94A3B8"/>
                </a:solidFill>
                <a:latin typeface="Arial"/>
                <a:cs typeface="Arial"/>
              </a:rPr>
              <a:t>• RBAC &amp; Policy Engine (PDP/PEP) with YAML-configurable tenant rules (ISO 27001 A.5.15).</a:t>
            </a:r>
          </a:p>
          <a:p>
            <a:pPr algn="l">
              <a:spcAft>
                <a:spcPts val="450"/>
              </a:spcAft>
            </a:pPr>
            <a:r>
              <a:rPr lang="en-US" sz="1100" dirty="0">
                <a:solidFill>
                  <a:srgbClr val="94A3B8"/>
                </a:solidFill>
                <a:latin typeface="Arial"/>
                <a:cs typeface="Arial"/>
              </a:rPr>
              <a:t>• Prompt injection &amp; jailbreak classification (BLOCK / ROUTE_LOCAL / ANONYMIZE / PASS).</a:t>
            </a:r>
          </a:p>
          <a:p>
            <a:pPr algn="l">
              <a:spcAft>
                <a:spcPts val="450"/>
              </a:spcAft>
            </a:pPr>
            <a:r>
              <a:rPr lang="en-US" sz="1100" dirty="0">
                <a:solidFill>
                  <a:srgbClr val="94A3B8"/>
                </a:solidFill>
                <a:latin typeface="Arial"/>
                <a:cs typeface="Arial"/>
              </a:rPr>
              <a:t>• 8 locale bundles &amp; 6 compliance presets (GDPR, LGPD, PDPA, POPIA, PIPEDA).</a:t>
            </a:r>
          </a:p>
        </p:txBody>
      </p:sp>
      <p:sp>
        <p:nvSpPr>
          <p:cNvPr id="22" name="Card_22"/>
          <p:cNvSpPr/>
          <p:nvPr/>
        </p:nvSpPr>
        <p:spPr>
          <a:xfrm>
            <a:off x="4334256" y="1965960"/>
            <a:ext cx="3520440" cy="4069080"/>
          </a:xfrm>
          <a:prstGeom prst="roundRect">
            <a:avLst>
              <a:gd name="adj" fmla="val 4000"/>
            </a:avLst>
          </a:prstGeom>
          <a:solidFill>
            <a:srgbClr val="111827"/>
          </a:solidFill>
          <a:ln w="19050">
            <a:solidFill>
              <a:srgbClr val="38BDF8"/>
            </a:solidFill>
          </a:ln>
        </p:spPr>
        <p:txBody>
          <a:bodyPr wrap="square" lIns="146304" tIns="146304" rIns="146304" bIns="146304" anchor="t"/>
          <a:lstStyle/>
          <a:p>
            <a:pPr algn="l">
              <a:spcAft>
                <a:spcPts val="300"/>
              </a:spcAft>
            </a:pPr>
            <a:r>
              <a:rPr lang="en-US" sz="950" b="1" dirty="0">
                <a:solidFill>
                  <a:srgbClr val="38BDF8"/>
                </a:solidFill>
                <a:latin typeface="Consolas"/>
                <a:cs typeface="Consolas"/>
              </a:rPr>
              <a:t>STREAMING &amp; PROTOCOLS</a:t>
            </a:r>
          </a:p>
          <a:p>
            <a:pPr algn="l">
              <a:spcAft>
                <a:spcPts val="600"/>
              </a:spcAft>
            </a:pPr>
            <a:r>
              <a:rPr lang="en-US" sz="1500" b="1" dirty="0">
                <a:solidFill>
                  <a:srgbClr val="F8FAFC"/>
                </a:solidFill>
                <a:latin typeface="Arial"/>
                <a:cs typeface="Arial"/>
              </a:rPr>
              <a:t>SSE Tail Buffer &amp; Multi-Provider</a:t>
            </a:r>
          </a:p>
          <a:p>
            <a:pPr algn="l">
              <a:spcAft>
                <a:spcPts val="450"/>
              </a:spcAft>
            </a:pPr>
            <a:r>
              <a:rPr lang="en-US" sz="1100" dirty="0">
                <a:solidFill>
                  <a:srgbClr val="94A3B8"/>
                </a:solidFill>
                <a:latin typeface="Arial"/>
                <a:cs typeface="Arial"/>
              </a:rPr>
              <a:t>• Real-time token restoration across Server-Sent Events (SSE) streams with a split-token Tail Buffer.</a:t>
            </a:r>
          </a:p>
          <a:p>
            <a:pPr algn="l">
              <a:spcAft>
                <a:spcPts val="450"/>
              </a:spcAft>
            </a:pPr>
            <a:r>
              <a:rPr lang="en-US" sz="1100" dirty="0">
                <a:solidFill>
                  <a:srgbClr val="94A3B8"/>
                </a:solidFill>
                <a:latin typeface="Arial"/>
                <a:cs typeface="Arial"/>
              </a:rPr>
              <a:t>• OpenAI-compatible wire API translating to xAI Grok, OpenAI, Anthropic, Gemini &amp; Ollama.</a:t>
            </a:r>
          </a:p>
          <a:p>
            <a:pPr algn="l">
              <a:spcAft>
                <a:spcPts val="450"/>
              </a:spcAft>
            </a:pPr>
            <a:r>
              <a:rPr lang="en-US" sz="1100" dirty="0">
                <a:solidFill>
                  <a:srgbClr val="94A3B8"/>
                </a:solidFill>
                <a:latin typeface="Arial"/>
                <a:cs typeface="Arial"/>
              </a:rPr>
              <a:t>• MCP tool call payload inspection &amp; voice transcript sanitization.</a:t>
            </a:r>
          </a:p>
        </p:txBody>
      </p:sp>
      <p:sp>
        <p:nvSpPr>
          <p:cNvPr id="23" name="Card_23"/>
          <p:cNvSpPr/>
          <p:nvPr/>
        </p:nvSpPr>
        <p:spPr>
          <a:xfrm>
            <a:off x="8119872" y="1965960"/>
            <a:ext cx="3520440" cy="406908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SOC &amp; DEPLOYMENT</a:t>
            </a:r>
          </a:p>
          <a:p>
            <a:pPr algn="l">
              <a:spcAft>
                <a:spcPts val="600"/>
              </a:spcAft>
            </a:pPr>
            <a:r>
              <a:rPr lang="en-US" sz="1500" b="1" dirty="0">
                <a:solidFill>
                  <a:srgbClr val="F8FAFC"/>
                </a:solidFill>
                <a:latin typeface="Arial"/>
                <a:cs typeface="Arial"/>
              </a:rPr>
              <a:t>Compose / Helm + SIEM Sinks</a:t>
            </a:r>
          </a:p>
          <a:p>
            <a:pPr algn="l">
              <a:spcAft>
                <a:spcPts val="450"/>
              </a:spcAft>
            </a:pPr>
            <a:r>
              <a:rPr lang="en-US" sz="1100" dirty="0">
                <a:solidFill>
                  <a:srgbClr val="94A3B8"/>
                </a:solidFill>
                <a:latin typeface="Arial"/>
                <a:cs typeface="Arial"/>
              </a:rPr>
              <a:t>• Native SOC/SIEM sink adapters for Splunk HEC, Elastic, Microsoft Sentinel, QRadar &amp; Datadog.</a:t>
            </a:r>
          </a:p>
          <a:p>
            <a:pPr algn="l">
              <a:spcAft>
                <a:spcPts val="450"/>
              </a:spcAft>
            </a:pPr>
            <a:r>
              <a:rPr lang="en-US" sz="1100" dirty="0">
                <a:solidFill>
                  <a:srgbClr val="94A3B8"/>
                </a:solidFill>
                <a:latin typeface="Arial"/>
                <a:cs typeface="Arial"/>
              </a:rPr>
              <a:t>• DORA Art. 11/28 incident auto-escalation &amp; provider concentration risk inventory.</a:t>
            </a:r>
          </a:p>
          <a:p>
            <a:pPr algn="l">
              <a:spcAft>
                <a:spcPts val="450"/>
              </a:spcAft>
            </a:pPr>
            <a:r>
              <a:rPr lang="en-US" sz="1100" dirty="0">
                <a:solidFill>
                  <a:srgbClr val="94A3B8"/>
                </a:solidFill>
                <a:latin typeface="Arial"/>
                <a:cs typeface="Arial"/>
              </a:rPr>
              <a:t>• Deploys via Docker Compose or Helm inside your VPC in one day.</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12 · LIVE DEMO RUNBOOK (90 SECONDS)</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12/13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Live Demo Choreography (http://localhost:3000/en)</a:t>
            </a:r>
          </a:p>
          <a:p>
            <a:pPr algn="l">
              <a:spcAft>
                <a:spcPts val="0"/>
              </a:spcAft>
            </a:pPr>
            <a:r>
              <a:rPr lang="en-US" sz="1300" dirty="0">
                <a:solidFill>
                  <a:srgbClr val="94A3B8"/>
                </a:solidFill>
                <a:latin typeface="Arial"/>
                <a:cs typeface="Arial"/>
              </a:rPr>
              <a:t>Transition to the browser: Select Scenario 1 (Bank Support Ticket) and drop the sample Bank .pdf.</a:t>
            </a:r>
          </a:p>
        </p:txBody>
      </p:sp>
      <p:sp>
        <p:nvSpPr>
          <p:cNvPr id="40" name="Step_1"/>
          <p:cNvSpPr/>
          <p:nvPr/>
        </p:nvSpPr>
        <p:spPr>
          <a:xfrm>
            <a:off x="548640" y="1938528"/>
            <a:ext cx="11091672" cy="731520"/>
          </a:xfrm>
          <a:prstGeom prst="roundRect">
            <a:avLst>
              <a:gd name="adj" fmla="val 4000"/>
            </a:avLst>
          </a:prstGeom>
          <a:solidFill>
            <a:srgbClr val="111827"/>
          </a:solidFill>
          <a:ln w="12700">
            <a:solidFill>
              <a:srgbClr val="334155"/>
            </a:solidFill>
          </a:ln>
        </p:spPr>
        <p:txBody>
          <a:bodyPr wrap="square" lIns="109728" tIns="109728" rIns="109728" bIns="109728" anchor="ctr"/>
          <a:lstStyle/>
          <a:p>
            <a:pPr algn="l">
              <a:spcAft>
                <a:spcPts val="300"/>
              </a:spcAft>
            </a:pPr>
            <a:r>
              <a:rPr lang="en-US" sz="1150" b="1" dirty="0">
                <a:solidFill>
                  <a:srgbClr val="F8FAFC"/>
                </a:solidFill>
                <a:latin typeface="Consolas"/>
                <a:cs typeface="Consolas"/>
              </a:rPr>
              <a:t>[0:00 – 0:15]  1. Upload Sample Bank Ticket PDF</a:t>
            </a:r>
          </a:p>
          <a:p>
            <a:pPr algn="l">
              <a:spcAft>
                <a:spcPts val="0"/>
              </a:spcAft>
            </a:pPr>
            <a:r>
              <a:rPr lang="en-US" sz="1020" i="1" dirty="0">
                <a:solidFill>
                  <a:srgbClr val="94A3B8"/>
                </a:solidFill>
                <a:latin typeface="Arial"/>
                <a:cs typeface="Arial"/>
              </a:rPr>
              <a:t>"This is a synthetic SEPA dispute PDF. Support wants AI to draft an acknowledgement, but it contains a customer IBAN and Steuer-ID (GDPR Art. 44 / BaFin VAIT blocker)."</a:t>
            </a:r>
          </a:p>
        </p:txBody>
      </p:sp>
      <p:sp>
        <p:nvSpPr>
          <p:cNvPr id="41" name="Step_2"/>
          <p:cNvSpPr/>
          <p:nvPr/>
        </p:nvSpPr>
        <p:spPr>
          <a:xfrm>
            <a:off x="548640" y="2761488"/>
            <a:ext cx="11091672" cy="731520"/>
          </a:xfrm>
          <a:prstGeom prst="roundRect">
            <a:avLst>
              <a:gd name="adj" fmla="val 4000"/>
            </a:avLst>
          </a:prstGeom>
          <a:solidFill>
            <a:srgbClr val="111827"/>
          </a:solidFill>
          <a:ln w="12700">
            <a:solidFill>
              <a:srgbClr val="334155"/>
            </a:solidFill>
          </a:ln>
        </p:spPr>
        <p:txBody>
          <a:bodyPr wrap="square" lIns="109728" tIns="109728" rIns="109728" bIns="109728" anchor="ctr"/>
          <a:lstStyle/>
          <a:p>
            <a:pPr algn="l">
              <a:spcAft>
                <a:spcPts val="300"/>
              </a:spcAft>
            </a:pPr>
            <a:r>
              <a:rPr lang="en-US" sz="1150" b="1" dirty="0">
                <a:solidFill>
                  <a:srgbClr val="F8FAFC"/>
                </a:solidFill>
                <a:latin typeface="Consolas"/>
                <a:cs typeface="Consolas"/>
              </a:rPr>
              <a:t>[0:15 – 0:35]  2. Point to AI Gate Verdict Card (Auto Scan Only)</a:t>
            </a:r>
          </a:p>
          <a:p>
            <a:pPr algn="l">
              <a:spcAft>
                <a:spcPts val="0"/>
              </a:spcAft>
            </a:pPr>
            <a:r>
              <a:rPr lang="en-US" sz="1020" i="1" dirty="0">
                <a:solidFill>
                  <a:srgbClr val="94A3B8"/>
                </a:solidFill>
                <a:latin typeface="Arial"/>
                <a:cs typeface="Arial"/>
              </a:rPr>
              <a:t>"Uploading extracts readable text locally and auto-runs Scan Only (EU AI Act Art. 14 oversight). Direct to cloud LLM is blocked; here are the 8 German identifiers detected."</a:t>
            </a:r>
          </a:p>
        </p:txBody>
      </p:sp>
      <p:sp>
        <p:nvSpPr>
          <p:cNvPr id="42" name="Step_3"/>
          <p:cNvSpPr/>
          <p:nvPr/>
        </p:nvSpPr>
        <p:spPr>
          <a:xfrm>
            <a:off x="548640" y="3584448"/>
            <a:ext cx="11091672" cy="731520"/>
          </a:xfrm>
          <a:prstGeom prst="roundRect">
            <a:avLst>
              <a:gd name="adj" fmla="val 4000"/>
            </a:avLst>
          </a:prstGeom>
          <a:solidFill>
            <a:srgbClr val="111827"/>
          </a:solidFill>
          <a:ln w="19050">
            <a:solidFill>
              <a:srgbClr val="F59E0B"/>
            </a:solidFill>
          </a:ln>
        </p:spPr>
        <p:txBody>
          <a:bodyPr wrap="square" lIns="109728" tIns="109728" rIns="109728" bIns="109728" anchor="ctr"/>
          <a:lstStyle/>
          <a:p>
            <a:pPr algn="l">
              <a:spcAft>
                <a:spcPts val="300"/>
              </a:spcAft>
            </a:pPr>
            <a:r>
              <a:rPr lang="en-US" sz="1150" b="1" dirty="0">
                <a:solidFill>
                  <a:srgbClr val="F59E0B"/>
                </a:solidFill>
                <a:latin typeface="Consolas"/>
                <a:cs typeface="Consolas"/>
              </a:rPr>
              <a:t>[0:35 – 0:60]  3. Select 'Draft Reply' -&gt; Click 'Anonymize &amp; Ask Grok'</a:t>
            </a:r>
          </a:p>
          <a:p>
            <a:pPr algn="l">
              <a:spcAft>
                <a:spcPts val="0"/>
              </a:spcAft>
            </a:pPr>
            <a:r>
              <a:rPr lang="en-US" sz="1020" i="1" dirty="0">
                <a:solidFill>
                  <a:srgbClr val="94A3B8"/>
                </a:solidFill>
                <a:latin typeface="Arial"/>
                <a:cs typeface="Arial"/>
              </a:rPr>
              <a:t>"Col 02 is the tokenized prompt leaving our perimeter (GDPR Art. 32). Col 03 is the verbatim raw reply from Grok over the wire—proving real IDs never crossed the border."</a:t>
            </a:r>
          </a:p>
        </p:txBody>
      </p:sp>
      <p:sp>
        <p:nvSpPr>
          <p:cNvPr id="43" name="Step_4"/>
          <p:cNvSpPr/>
          <p:nvPr/>
        </p:nvSpPr>
        <p:spPr>
          <a:xfrm>
            <a:off x="548640" y="4407408"/>
            <a:ext cx="11091672" cy="731520"/>
          </a:xfrm>
          <a:prstGeom prst="roundRect">
            <a:avLst>
              <a:gd name="adj" fmla="val 4000"/>
            </a:avLst>
          </a:prstGeom>
          <a:solidFill>
            <a:srgbClr val="111827"/>
          </a:solidFill>
          <a:ln w="12700">
            <a:solidFill>
              <a:srgbClr val="334155"/>
            </a:solidFill>
          </a:ln>
        </p:spPr>
        <p:txBody>
          <a:bodyPr wrap="square" lIns="109728" tIns="109728" rIns="109728" bIns="109728" anchor="ctr"/>
          <a:lstStyle/>
          <a:p>
            <a:pPr algn="l">
              <a:spcAft>
                <a:spcPts val="300"/>
              </a:spcAft>
            </a:pPr>
            <a:r>
              <a:rPr lang="en-US" sz="1150" b="1" dirty="0">
                <a:solidFill>
                  <a:srgbClr val="F8FAFC"/>
                </a:solidFill>
                <a:latin typeface="Consolas"/>
                <a:cs typeface="Consolas"/>
              </a:rPr>
              <a:t>[0:60 – 0:75]  4. Point to Column 04 (Re-identified Answer)</a:t>
            </a:r>
          </a:p>
          <a:p>
            <a:pPr algn="l">
              <a:spcAft>
                <a:spcPts val="0"/>
              </a:spcAft>
            </a:pPr>
            <a:r>
              <a:rPr lang="en-US" sz="1020" i="1" dirty="0">
                <a:solidFill>
                  <a:srgbClr val="94A3B8"/>
                </a:solidFill>
                <a:latin typeface="Arial"/>
                <a:cs typeface="Arial"/>
              </a:rPr>
              <a:t>"In Col 04, AnonReq restores the reversible tokens from ephemeral Valkey in milliseconds so the support agent gets a ready-to-send customer reply."</a:t>
            </a:r>
          </a:p>
        </p:txBody>
      </p:sp>
      <p:sp>
        <p:nvSpPr>
          <p:cNvPr id="44" name="Step_5"/>
          <p:cNvSpPr/>
          <p:nvPr/>
        </p:nvSpPr>
        <p:spPr>
          <a:xfrm>
            <a:off x="548640" y="5230368"/>
            <a:ext cx="11091672" cy="731520"/>
          </a:xfrm>
          <a:prstGeom prst="roundRect">
            <a:avLst>
              <a:gd name="adj" fmla="val 4000"/>
            </a:avLst>
          </a:prstGeom>
          <a:solidFill>
            <a:srgbClr val="111827"/>
          </a:solidFill>
          <a:ln w="12700">
            <a:solidFill>
              <a:srgbClr val="334155"/>
            </a:solidFill>
          </a:ln>
        </p:spPr>
        <p:txBody>
          <a:bodyPr wrap="square" lIns="109728" tIns="109728" rIns="109728" bIns="109728" anchor="ctr"/>
          <a:lstStyle/>
          <a:p>
            <a:pPr algn="l">
              <a:spcAft>
                <a:spcPts val="300"/>
              </a:spcAft>
            </a:pPr>
            <a:r>
              <a:rPr lang="en-US" sz="1150" b="1" dirty="0">
                <a:solidFill>
                  <a:srgbClr val="F8FAFC"/>
                </a:solidFill>
                <a:latin typeface="Consolas"/>
                <a:cs typeface="Consolas"/>
              </a:rPr>
              <a:t>[0:75 – 0:90]  5. Click GlassFlow Emit + Download DPO Audit CSV</a:t>
            </a:r>
          </a:p>
          <a:p>
            <a:pPr algn="l">
              <a:spcAft>
                <a:spcPts val="0"/>
              </a:spcAft>
            </a:pPr>
            <a:r>
              <a:rPr lang="en-US" sz="1020" i="1" dirty="0">
                <a:solidFill>
                  <a:srgbClr val="94A3B8"/>
                </a:solidFill>
                <a:latin typeface="Arial"/>
                <a:cs typeface="Arial"/>
              </a:rPr>
              <a:t>"We emit zero-PII OTEL traces for GlassFlow Rius/Tares (EU AI Act Art. 12) and a 1-click metadata CSV for the DPO (GDPR Art. 30)."</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Badge"/>
          <p:cNvSpPr/>
          <p:nvPr/>
        </p:nvSpPr>
        <p:spPr>
          <a:xfrm>
            <a:off x="548640" y="384048"/>
            <a:ext cx="4114800" cy="347472"/>
          </a:xfrm>
          <a:prstGeom prst="roundRect">
            <a:avLst>
              <a:gd name="adj" fmla="val 4000"/>
            </a:avLst>
          </a:prstGeom>
          <a:solidFill>
            <a:srgbClr val="1E293B"/>
          </a:solidFill>
          <a:ln w="12700">
            <a:solidFill>
              <a:srgbClr val="F59E0B"/>
            </a:solidFill>
          </a:ln>
        </p:spPr>
        <p:txBody>
          <a:bodyPr wrap="square" lIns="73152" tIns="73152" rIns="73152" bIns="73152" anchor="ctr"/>
          <a:lstStyle/>
          <a:p>
            <a:pPr algn="l">
              <a:spcAft>
                <a:spcPts val="0"/>
              </a:spcAft>
            </a:pPr>
            <a:r>
              <a:rPr lang="en-US" sz="1000" b="1" dirty="0">
                <a:solidFill>
                  <a:srgbClr val="F59E0B"/>
                </a:solidFill>
                <a:latin typeface="Consolas"/>
                <a:cs typeface="Consolas"/>
              </a:rPr>
              <a:t>13 · PILOT ROADMAP &amp; CALL TO ACTION</a:t>
            </a:r>
          </a:p>
        </p:txBody>
      </p:sp>
      <p:sp>
        <p:nvSpPr>
          <p:cNvPr id="11" name="Counter"/>
          <p:cNvSpPr/>
          <p:nvPr/>
        </p:nvSpPr>
        <p:spPr>
          <a:xfrm>
            <a:off x="8686800" y="384048"/>
            <a:ext cx="2953512" cy="347472"/>
          </a:xfrm>
          <a:prstGeom prst="rect">
            <a:avLst/>
          </a:prstGeom>
          <a:noFill/>
          <a:ln>
            <a:noFill/>
          </a:ln>
        </p:spPr>
        <p:txBody>
          <a:bodyPr wrap="square" lIns="36576" tIns="36576" rIns="36576" bIns="36576" anchor="ctr"/>
          <a:lstStyle/>
          <a:p>
            <a:pPr algn="r">
              <a:spcAft>
                <a:spcPts val="0"/>
              </a:spcAft>
            </a:pPr>
            <a:r>
              <a:rPr lang="en-US" sz="1000" b="1" dirty="0">
                <a:solidFill>
                  <a:srgbClr val="94A3B8"/>
                </a:solidFill>
                <a:latin typeface="Consolas"/>
                <a:cs typeface="Consolas"/>
              </a:rPr>
              <a:t>FRANKFURT AI WEEK · 13/13</a:t>
            </a:r>
          </a:p>
        </p:txBody>
      </p:sp>
      <p:sp>
        <p:nvSpPr>
          <p:cNvPr id="12" name="TitleBlock"/>
          <p:cNvSpPr/>
          <p:nvPr/>
        </p:nvSpPr>
        <p:spPr>
          <a:xfrm>
            <a:off x="548640" y="804672"/>
            <a:ext cx="11091672" cy="1051560"/>
          </a:xfrm>
          <a:prstGeom prst="rect">
            <a:avLst/>
          </a:prstGeom>
          <a:noFill/>
          <a:ln>
            <a:noFill/>
          </a:ln>
        </p:spPr>
        <p:txBody>
          <a:bodyPr wrap="square" lIns="18288" tIns="18288" rIns="18288" bIns="18288" anchor="t"/>
          <a:lstStyle/>
          <a:p>
            <a:pPr algn="l">
              <a:spcAft>
                <a:spcPts val="500"/>
              </a:spcAft>
            </a:pPr>
            <a:r>
              <a:rPr lang="en-US" sz="2500" b="1" dirty="0">
                <a:solidFill>
                  <a:srgbClr val="F8FAFC"/>
                </a:solidFill>
                <a:latin typeface="Arial"/>
                <a:cs typeface="Arial"/>
              </a:rPr>
              <a:t>Bring One Synthetic Workflow — 2-Week Germany PoC</a:t>
            </a:r>
          </a:p>
          <a:p>
            <a:pPr algn="l">
              <a:spcAft>
                <a:spcPts val="0"/>
              </a:spcAft>
            </a:pPr>
            <a:r>
              <a:rPr lang="en-US" sz="1300" dirty="0">
                <a:solidFill>
                  <a:srgbClr val="94A3B8"/>
                </a:solidFill>
                <a:latin typeface="Arial"/>
                <a:cs typeface="Arial"/>
              </a:rPr>
              <a:t>Transparent engineering boundaries today; structured pilot evaluation inside your VPC with your model key.</a:t>
            </a:r>
          </a:p>
        </p:txBody>
      </p:sp>
      <p:sp>
        <p:nvSpPr>
          <p:cNvPr id="21" name="Card_21"/>
          <p:cNvSpPr/>
          <p:nvPr/>
        </p:nvSpPr>
        <p:spPr>
          <a:xfrm>
            <a:off x="548640" y="1965960"/>
            <a:ext cx="5394960" cy="3200400"/>
          </a:xfrm>
          <a:prstGeom prst="roundRect">
            <a:avLst>
              <a:gd name="adj" fmla="val 4000"/>
            </a:avLst>
          </a:prstGeom>
          <a:solidFill>
            <a:srgbClr val="111827"/>
          </a:solidFill>
          <a:ln w="19050">
            <a:solidFill>
              <a:srgbClr val="10B981"/>
            </a:solidFill>
          </a:ln>
        </p:spPr>
        <p:txBody>
          <a:bodyPr wrap="square" lIns="146304" tIns="146304" rIns="146304" bIns="146304" anchor="t"/>
          <a:lstStyle/>
          <a:p>
            <a:pPr algn="l">
              <a:spcAft>
                <a:spcPts val="300"/>
              </a:spcAft>
            </a:pPr>
            <a:r>
              <a:rPr lang="en-US" sz="950" b="1" dirty="0">
                <a:solidFill>
                  <a:srgbClr val="10B981"/>
                </a:solidFill>
                <a:latin typeface="Consolas"/>
                <a:cs typeface="Consolas"/>
              </a:rPr>
              <a:t>VERIFIED IN TODAY'S DEMO STACK</a:t>
            </a:r>
          </a:p>
          <a:p>
            <a:pPr algn="l">
              <a:spcAft>
                <a:spcPts val="600"/>
              </a:spcAft>
            </a:pPr>
            <a:r>
              <a:rPr lang="en-US" sz="1500" b="1" dirty="0">
                <a:solidFill>
                  <a:srgbClr val="F8FAFC"/>
                </a:solidFill>
                <a:latin typeface="Arial"/>
                <a:cs typeface="Arial"/>
              </a:rPr>
              <a:t>What Runs Live on This Laptop Today</a:t>
            </a:r>
          </a:p>
          <a:p>
            <a:pPr algn="l">
              <a:spcAft>
                <a:spcPts val="450"/>
              </a:spcAft>
            </a:pPr>
            <a:r>
              <a:rPr lang="en-US" sz="1100" dirty="0">
                <a:solidFill>
                  <a:srgbClr val="94A3B8"/>
                </a:solidFill>
                <a:latin typeface="Arial"/>
                <a:cs typeface="Arial"/>
              </a:rPr>
              <a:t>• Readable text stream extraction (.pdf, .docx, .txt, .csv, .json, .md, .log, .eml up to 5 MB / 7,200 chars).</a:t>
            </a:r>
          </a:p>
          <a:p>
            <a:pPr algn="l">
              <a:spcAft>
                <a:spcPts val="450"/>
              </a:spcAft>
            </a:pPr>
            <a:r>
              <a:rPr lang="en-US" sz="1100" dirty="0">
                <a:solidFill>
                  <a:srgbClr val="94A3B8"/>
                </a:solidFill>
                <a:latin typeface="Arial"/>
                <a:cs typeface="Arial"/>
              </a:rPr>
              <a:t>• German spaCy NER (de_core_news_lg) + checksum recognizers (IBAN_DE, TAX_ID_DE, KVNR, PERSONAL_AUSWEIS).</a:t>
            </a:r>
          </a:p>
          <a:p>
            <a:pPr algn="l">
              <a:spcAft>
                <a:spcPts val="450"/>
              </a:spcAft>
            </a:pPr>
            <a:r>
              <a:rPr lang="en-US" sz="1100" dirty="0">
                <a:solidFill>
                  <a:srgbClr val="94A3B8"/>
                </a:solidFill>
                <a:latin typeface="Arial"/>
                <a:cs typeface="Arial"/>
              </a:rPr>
              <a:t>• 4-column wire proof with live xAI grok-4 upstream (GDPR Art. 32 / 44).</a:t>
            </a:r>
          </a:p>
          <a:p>
            <a:pPr algn="l">
              <a:spcAft>
                <a:spcPts val="450"/>
              </a:spcAft>
            </a:pPr>
            <a:r>
              <a:rPr lang="en-US" sz="1100" dirty="0">
                <a:solidFill>
                  <a:srgbClr val="94A3B8"/>
                </a:solidFill>
                <a:latin typeface="Arial"/>
                <a:cs typeface="Arial"/>
              </a:rPr>
              <a:t>• Differential restoration (Reversible PII vs. Permanent Mask on API_KEY).</a:t>
            </a:r>
          </a:p>
          <a:p>
            <a:pPr algn="l">
              <a:spcAft>
                <a:spcPts val="450"/>
              </a:spcAft>
            </a:pPr>
            <a:r>
              <a:rPr lang="en-US" sz="1100" dirty="0">
                <a:solidFill>
                  <a:srgbClr val="94A3B8"/>
                </a:solidFill>
                <a:latin typeface="Arial"/>
                <a:cs typeface="Arial"/>
              </a:rPr>
              <a:t>• 1-click DPO CSV export (GDPR Art. 30) &amp; fail-closed HTTP 503 (DORA Art. 9).</a:t>
            </a:r>
          </a:p>
        </p:txBody>
      </p:sp>
      <p:sp>
        <p:nvSpPr>
          <p:cNvPr id="22" name="Card_22"/>
          <p:cNvSpPr/>
          <p:nvPr/>
        </p:nvSpPr>
        <p:spPr>
          <a:xfrm>
            <a:off x="6245352" y="1965960"/>
            <a:ext cx="5394960" cy="3200400"/>
          </a:xfrm>
          <a:prstGeom prst="roundRect">
            <a:avLst>
              <a:gd name="adj" fmla="val 4000"/>
            </a:avLst>
          </a:prstGeom>
          <a:solidFill>
            <a:srgbClr val="111827"/>
          </a:solidFill>
          <a:ln w="19050">
            <a:solidFill>
              <a:srgbClr val="F59E0B"/>
            </a:solidFill>
          </a:ln>
        </p:spPr>
        <p:txBody>
          <a:bodyPr wrap="square" lIns="146304" tIns="146304" rIns="146304" bIns="146304" anchor="t"/>
          <a:lstStyle/>
          <a:p>
            <a:pPr algn="l">
              <a:spcAft>
                <a:spcPts val="300"/>
              </a:spcAft>
            </a:pPr>
            <a:r>
              <a:rPr lang="en-US" sz="950" b="1" dirty="0">
                <a:solidFill>
                  <a:srgbClr val="F59E0B"/>
                </a:solidFill>
                <a:latin typeface="Consolas"/>
                <a:cs typeface="Consolas"/>
              </a:rPr>
              <a:t>SCOPED IN A 2-WEEK CUSTOMER POC</a:t>
            </a:r>
          </a:p>
          <a:p>
            <a:pPr algn="l">
              <a:spcAft>
                <a:spcPts val="600"/>
              </a:spcAft>
            </a:pPr>
            <a:r>
              <a:rPr lang="en-US" sz="1500" b="1" dirty="0">
                <a:solidFill>
                  <a:srgbClr val="F8FAFC"/>
                </a:solidFill>
                <a:latin typeface="Arial"/>
                <a:cs typeface="Arial"/>
              </a:rPr>
              <a:t>What We Evaluate Together on Your Data</a:t>
            </a:r>
          </a:p>
          <a:p>
            <a:pPr algn="l">
              <a:spcAft>
                <a:spcPts val="450"/>
              </a:spcAft>
            </a:pPr>
            <a:r>
              <a:rPr lang="en-US" sz="1100" dirty="0">
                <a:solidFill>
                  <a:srgbClr val="94A3B8"/>
                </a:solidFill>
                <a:latin typeface="Arial"/>
                <a:cs typeface="Arial"/>
              </a:rPr>
              <a:t>• Residual risk &amp; recall benchmark on your synthetic domain tickets (GDPR Art. 35 DPIA input).</a:t>
            </a:r>
          </a:p>
          <a:p>
            <a:pPr algn="l">
              <a:spcAft>
                <a:spcPts val="450"/>
              </a:spcAft>
            </a:pPr>
            <a:r>
              <a:rPr lang="en-US" sz="1100" dirty="0">
                <a:solidFill>
                  <a:srgbClr val="94A3B8"/>
                </a:solidFill>
                <a:latin typeface="Arial"/>
                <a:cs typeface="Arial"/>
              </a:rPr>
              <a:t>• Large-Document Sanitized RAG: chunking 100+ page PDFs and anonymizing chunks before vector DB embedding.</a:t>
            </a:r>
          </a:p>
          <a:p>
            <a:pPr algn="l">
              <a:spcAft>
                <a:spcPts val="450"/>
              </a:spcAft>
            </a:pPr>
            <a:r>
              <a:rPr lang="en-US" sz="1100" dirty="0">
                <a:solidFill>
                  <a:srgbClr val="94A3B8"/>
                </a:solidFill>
                <a:latin typeface="Arial"/>
                <a:cs typeface="Arial"/>
              </a:rPr>
              <a:t>• OCR pre-processing pipeline for scanned image PDFs.</a:t>
            </a:r>
          </a:p>
          <a:p>
            <a:pPr algn="l">
              <a:spcAft>
                <a:spcPts val="450"/>
              </a:spcAft>
            </a:pPr>
            <a:r>
              <a:rPr lang="en-US" sz="1100" dirty="0">
                <a:solidFill>
                  <a:srgbClr val="94A3B8"/>
                </a:solidFill>
                <a:latin typeface="Arial"/>
                <a:cs typeface="Arial"/>
              </a:rPr>
              <a:t>• VPC Helm / Docker Compose deployment + Germany Trust Pack &amp; DPA Annex.</a:t>
            </a:r>
          </a:p>
        </p:txBody>
      </p:sp>
      <p:sp>
        <p:nvSpPr>
          <p:cNvPr id="23" name="CTA"/>
          <p:cNvSpPr/>
          <p:nvPr/>
        </p:nvSpPr>
        <p:spPr>
          <a:xfrm>
            <a:off x="548640" y="5321808"/>
            <a:ext cx="11091672" cy="749808"/>
          </a:xfrm>
          <a:prstGeom prst="roundRect">
            <a:avLst>
              <a:gd name="adj" fmla="val 4000"/>
            </a:avLst>
          </a:prstGeom>
          <a:solidFill>
            <a:srgbClr val="1E293B"/>
          </a:solidFill>
          <a:ln w="19050">
            <a:solidFill>
              <a:srgbClr val="F59E0B"/>
            </a:solidFill>
          </a:ln>
        </p:spPr>
        <p:txBody>
          <a:bodyPr wrap="square" lIns="146304" tIns="146304" rIns="146304" bIns="146304" anchor="ctr"/>
          <a:lstStyle/>
          <a:p>
            <a:pPr algn="ctr">
              <a:spcAft>
                <a:spcPts val="400"/>
              </a:spcAft>
            </a:pPr>
            <a:r>
              <a:rPr lang="en-US" sz="1250" b="1" dirty="0">
                <a:solidFill>
                  <a:srgbClr val="F8FAFC"/>
                </a:solidFill>
                <a:latin typeface="Arial"/>
                <a:cs typeface="Arial"/>
              </a:rPr>
              <a:t>Closing Hook: "Bring one synthetic workflow. Together we inspect what is detected, what leaves, and whether the answer is useful." — Abdullah Al-Jauni (infratechton.com)</a:t>
            </a:r>
          </a:p>
        </p:txBody>
      </p:sp>
      <p:sp>
        <p:nvSpPr>
          <p:cNvPr id="90" name="FooterLeft"/>
          <p:cNvSpPr/>
          <p:nvPr/>
        </p:nvSpPr>
        <p:spPr>
          <a:xfrm>
            <a:off x="548640" y="6263640"/>
            <a:ext cx="7498080" cy="365760"/>
          </a:xfrm>
          <a:prstGeom prst="rect">
            <a:avLst/>
          </a:prstGeom>
          <a:noFill/>
          <a:ln>
            <a:noFill/>
          </a:ln>
        </p:spPr>
        <p:txBody>
          <a:bodyPr wrap="square" lIns="18288" tIns="18288" rIns="18288" bIns="18288" anchor="ctr"/>
          <a:lstStyle/>
          <a:p>
            <a:pPr algn="l">
              <a:spcAft>
                <a:spcPts val="0"/>
              </a:spcAft>
            </a:pPr>
            <a:r>
              <a:rPr lang="en-US" sz="1000" dirty="0">
                <a:solidFill>
                  <a:srgbClr val="94A3B8"/>
                </a:solidFill>
                <a:latin typeface="Arial"/>
                <a:cs typeface="Arial"/>
              </a:rPr>
              <a:t>AnonReq · Fail-Closed AI Privacy Gateway (de-DE) · Built by Abdullah Al-Jauni (InfraTechton)</a:t>
            </a:r>
          </a:p>
        </p:txBody>
      </p:sp>
      <p:sp>
        <p:nvSpPr>
          <p:cNvPr id="91" name="FooterRight"/>
          <p:cNvSpPr/>
          <p:nvPr/>
        </p:nvSpPr>
        <p:spPr>
          <a:xfrm>
            <a:off x="8046720" y="6263640"/>
            <a:ext cx="3593592" cy="365760"/>
          </a:xfrm>
          <a:prstGeom prst="rect">
            <a:avLst/>
          </a:prstGeom>
          <a:noFill/>
          <a:ln>
            <a:noFill/>
          </a:ln>
        </p:spPr>
        <p:txBody>
          <a:bodyPr wrap="square" lIns="18288" tIns="18288" rIns="18288" bIns="18288" anchor="ctr"/>
          <a:lstStyle/>
          <a:p>
            <a:pPr algn="r">
              <a:spcAft>
                <a:spcPts val="0"/>
              </a:spcAft>
            </a:pPr>
            <a:r>
              <a:rPr lang="en-US" sz="1000" dirty="0">
                <a:solidFill>
                  <a:srgbClr val="F59E0B"/>
                </a:solidFill>
                <a:latin typeface="Consolas"/>
                <a:cs typeface="Consolas"/>
              </a:rPr>
              <a:t>http://localhost:3000/en | /de</a:t>
            </a:r>
          </a:p>
        </p:txBody>
      </p:sp>
    </p:spTree>
  </p:cSld>
  <p:clrMapOvr>
    <a:masterClrMapping/>
  </p:clrMapOvr>
</p:sld>
</file>

<file path=ppt/theme/theme1.xml><?xml version="1.0" encoding="utf-8"?>
<a:theme xmlns:a="http://schemas.openxmlformats.org/drawingml/2006/main" name="AnonReqDarkTheme">
  <a:themeElements>
    <a:clrScheme name="AnonReq">
      <a:dk1>
        <a:srgbClr val="0B0F17"/>
      </a:dk1>
      <a:lt1>
        <a:srgbClr val="F8FAFC"/>
      </a:lt1>
      <a:dk2>
        <a:srgbClr val="111827"/>
      </a:dk2>
      <a:lt2>
        <a:srgbClr val="94A3B8"/>
      </a:lt2>
      <a:accent1>
        <a:srgbClr val="F59E0B"/>
      </a:accent1>
      <a:accent2>
        <a:srgbClr val="10B981"/>
      </a:accent2>
      <a:accent3>
        <a:srgbClr val="38BDF8"/>
      </a:accent3>
      <a:accent4>
        <a:srgbClr val="EF4444"/>
      </a:accent4>
      <a:accent5>
        <a:srgbClr val="A855F7"/>
      </a:accent5>
      <a:accent6>
        <a:srgbClr val="64748B"/>
      </a:accent6>
      <a:hlink>
        <a:srgbClr val="38BDF8"/>
      </a:hlink>
      <a:folHlink>
        <a:srgbClr val="94A3B8"/>
      </a:folHlink>
    </a:clrScheme>
    <a:fontScheme name="AnonReqFonts">
      <a:majorFont>
        <a:latin typeface="Arial"/>
        <a:ea typeface=""/>
        <a:cs typeface=""/>
      </a:majorFont>
      <a:minorFont>
        <a:latin typeface="Arial"/>
        <a:ea typeface=""/>
        <a:cs typeface=""/>
      </a:minorFont>
    </a:fontScheme>
    <a:fmtScheme name="AnonReqFmt">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AnonReq Deck Builder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AnonReq — Frankfurt AI Week Build Days Pitch &amp; Demo Deck</dc:title>
  <dc:creator>Abdullah Al-Jauni (InfraTechton)</dc:creator>
  <dcterms:created xsi:type="dcterms:W3CDTF">2026-10-30T07:55:00Z</dcterms:created>
</cp:coreProperties>
</file>